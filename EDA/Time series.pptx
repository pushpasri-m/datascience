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61" r:id="rId3"/>
    <p:sldId id="256" r:id="rId4"/>
    <p:sldId id="258" r:id="rId5"/>
    <p:sldId id="262" r:id="rId6"/>
    <p:sldId id="266" r:id="rId7"/>
    <p:sldId id="267" r:id="rId8"/>
    <p:sldId id="264" r:id="rId9"/>
    <p:sldId id="263" r:id="rId10"/>
    <p:sldId id="265" r:id="rId11"/>
    <p:sldId id="268" r:id="rId12"/>
    <p:sldId id="269" r:id="rId13"/>
    <p:sldId id="270" r:id="rId14"/>
    <p:sldId id="271" r:id="rId15"/>
    <p:sldId id="26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FB6E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C0230B-9DCF-4076-52F8-B109E1DFFBC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3CCEA2-F110-C390-E9D0-3474756965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80FC42-D72A-BEC7-5018-30EB59A09459}"/>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5" name="Footer Placeholder 4">
            <a:extLst>
              <a:ext uri="{FF2B5EF4-FFF2-40B4-BE49-F238E27FC236}">
                <a16:creationId xmlns:a16="http://schemas.microsoft.com/office/drawing/2014/main" id="{7E989074-6AE4-89C0-E7C1-EC4A9C2ACB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04940F-971A-18F7-9965-C922AE53A19C}"/>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18860684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B932F-83BE-4290-02A5-1CEC7B10EA5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E511E21-03E3-8E95-C6C7-A399131859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B4C7B65-2CD9-D767-DFBC-776D5F83EB41}"/>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5" name="Footer Placeholder 4">
            <a:extLst>
              <a:ext uri="{FF2B5EF4-FFF2-40B4-BE49-F238E27FC236}">
                <a16:creationId xmlns:a16="http://schemas.microsoft.com/office/drawing/2014/main" id="{7E11C852-5F0E-691A-4723-3996D7C9A4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86AD059-2F73-762C-1288-53BA6758F39D}"/>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1433898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39AF1-7771-53EC-8F15-DA130E22567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51C37014-DFFD-96A4-A077-891B8B1A59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92AC29-6C32-B869-0452-BAFDC81D4BAA}"/>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5" name="Footer Placeholder 4">
            <a:extLst>
              <a:ext uri="{FF2B5EF4-FFF2-40B4-BE49-F238E27FC236}">
                <a16:creationId xmlns:a16="http://schemas.microsoft.com/office/drawing/2014/main" id="{1631039E-A8F1-6160-A63D-42D7CD8699E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624ABD-824D-80A7-5900-E20C2191D886}"/>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31848728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938DA-00C8-B467-76C6-7B848FE30CC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65D7798-D105-8388-9BF5-BE524A72DBF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B6A5D63-687D-E7DE-E2FA-CDF9C55C94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9700DDD-B1E0-D3C3-0B47-6582007C24F9}"/>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6" name="Footer Placeholder 5">
            <a:extLst>
              <a:ext uri="{FF2B5EF4-FFF2-40B4-BE49-F238E27FC236}">
                <a16:creationId xmlns:a16="http://schemas.microsoft.com/office/drawing/2014/main" id="{0657961C-30AF-F423-4C1B-58EA26146A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3105FAB-A0F9-9764-A461-CB621CFD9E42}"/>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11887429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96550-8B2B-D93F-2190-AE10DA6941F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319D39E-27C6-50A1-A84C-F308F2BDA2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CCF766F-4992-67CE-F644-7BD5F6178F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A084375-294F-FB96-BC49-225A69E4A9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A6EEAD8-D730-DCC0-ED0E-7ABF974D1B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5E795A2E-400D-D3A5-DD45-682DD4A605C1}"/>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8" name="Footer Placeholder 7">
            <a:extLst>
              <a:ext uri="{FF2B5EF4-FFF2-40B4-BE49-F238E27FC236}">
                <a16:creationId xmlns:a16="http://schemas.microsoft.com/office/drawing/2014/main" id="{9165FB6B-E0DA-4161-74E8-7D5E57889A9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A63CCAF-C454-82D3-59BF-3DE039A88684}"/>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161961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F0545-43DD-2EF6-E688-22454A8A53F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155A886-BAF9-B6AA-133E-8E66A10C51E1}"/>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4" name="Footer Placeholder 3">
            <a:extLst>
              <a:ext uri="{FF2B5EF4-FFF2-40B4-BE49-F238E27FC236}">
                <a16:creationId xmlns:a16="http://schemas.microsoft.com/office/drawing/2014/main" id="{8643A1E9-12A1-BBFA-EAA7-C3BEA7745BD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E9686B9D-D441-4278-F7D0-D47010549A2C}"/>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416642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BF5821-7C28-A8E1-82BE-5F536EE65E63}"/>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3" name="Footer Placeholder 2">
            <a:extLst>
              <a:ext uri="{FF2B5EF4-FFF2-40B4-BE49-F238E27FC236}">
                <a16:creationId xmlns:a16="http://schemas.microsoft.com/office/drawing/2014/main" id="{9759189C-C4A8-B985-8D8F-17852BF9CF9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4E2AD46-892E-C672-939C-1BD6484691A9}"/>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36092605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46E0E-38E4-E295-18BE-3FB724C85A3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6884C51-EE1E-2F9F-A10F-2BB13F1E4AD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C9A836A-03A3-A0C5-0473-05C021A06CE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E95716E-E15F-5892-EA0E-B8226101B141}"/>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6" name="Footer Placeholder 5">
            <a:extLst>
              <a:ext uri="{FF2B5EF4-FFF2-40B4-BE49-F238E27FC236}">
                <a16:creationId xmlns:a16="http://schemas.microsoft.com/office/drawing/2014/main" id="{4D1EC4E0-A8BC-A116-5B3A-E9CAB56F842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C4C12A4-D5B4-40FB-FCD3-5E593387F3BF}"/>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274484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4593D3-5E49-5E29-32A1-FEBE779D5A3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1BEA858-BA66-C3FC-41E4-30BB7B44BF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3DADBFF7-C838-77C5-629F-B4014A4637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1C5912-76B6-5D70-126D-5BDEFC9BA8A4}"/>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6" name="Footer Placeholder 5">
            <a:extLst>
              <a:ext uri="{FF2B5EF4-FFF2-40B4-BE49-F238E27FC236}">
                <a16:creationId xmlns:a16="http://schemas.microsoft.com/office/drawing/2014/main" id="{83F7BB68-B924-A24D-0418-79DB58E9D17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8699E67-914C-0D27-D90B-84288E98840E}"/>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1892688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47D4D-8291-B07D-CCBE-593728A8F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B2CD3B-910C-9038-AB82-4C7D669F0EA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F7F6D2A-2205-9B58-6DEE-B83B133A7D32}"/>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5" name="Footer Placeholder 4">
            <a:extLst>
              <a:ext uri="{FF2B5EF4-FFF2-40B4-BE49-F238E27FC236}">
                <a16:creationId xmlns:a16="http://schemas.microsoft.com/office/drawing/2014/main" id="{4142F573-1A97-DA1A-539A-550AC44EFA6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AD4DE0-A66B-0D02-C4E4-3095731366F0}"/>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17081779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458ACE-F574-CCFE-542F-3B7720753B9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40792EF-F236-C65F-9A8B-D9E4A02AB50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695D5A1-3163-D8D5-AEDE-C9BA4481A857}"/>
              </a:ext>
            </a:extLst>
          </p:cNvPr>
          <p:cNvSpPr>
            <a:spLocks noGrp="1"/>
          </p:cNvSpPr>
          <p:nvPr>
            <p:ph type="dt" sz="half" idx="10"/>
          </p:nvPr>
        </p:nvSpPr>
        <p:spPr/>
        <p:txBody>
          <a:bodyPr/>
          <a:lstStyle/>
          <a:p>
            <a:fld id="{A0290040-490E-4B56-8585-F145217C12D1}" type="datetimeFigureOut">
              <a:rPr lang="en-IN" smtClean="0"/>
              <a:t>03-11-2023</a:t>
            </a:fld>
            <a:endParaRPr lang="en-IN"/>
          </a:p>
        </p:txBody>
      </p:sp>
      <p:sp>
        <p:nvSpPr>
          <p:cNvPr id="5" name="Footer Placeholder 4">
            <a:extLst>
              <a:ext uri="{FF2B5EF4-FFF2-40B4-BE49-F238E27FC236}">
                <a16:creationId xmlns:a16="http://schemas.microsoft.com/office/drawing/2014/main" id="{578E7B50-F8F9-0861-A943-9B4E335DDA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D881CCB-6CCB-0833-FEE4-5961B103F58E}"/>
              </a:ext>
            </a:extLst>
          </p:cNvPr>
          <p:cNvSpPr>
            <a:spLocks noGrp="1"/>
          </p:cNvSpPr>
          <p:nvPr>
            <p:ph type="sldNum" sz="quarter" idx="12"/>
          </p:nvPr>
        </p:nvSpPr>
        <p:spPr/>
        <p:txBody>
          <a:bodyPr/>
          <a:lstStyle/>
          <a:p>
            <a:fld id="{8AA200A4-5E41-4755-A2D2-98A607A650C3}" type="slidenum">
              <a:rPr lang="en-IN" smtClean="0"/>
              <a:t>‹#›</a:t>
            </a:fld>
            <a:endParaRPr lang="en-IN"/>
          </a:p>
        </p:txBody>
      </p:sp>
    </p:spTree>
    <p:extLst>
      <p:ext uri="{BB962C8B-B14F-4D97-AF65-F5344CB8AC3E}">
        <p14:creationId xmlns:p14="http://schemas.microsoft.com/office/powerpoint/2010/main" val="35187074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0FFB0D-32FC-D399-29DF-D8646C7087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33605E-149F-20B6-8CEA-424DFD92A2D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48C7938-6709-6298-AFE7-0C1F9FA6A9A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0290040-490E-4B56-8585-F145217C12D1}" type="datetimeFigureOut">
              <a:rPr lang="en-IN" smtClean="0"/>
              <a:t>03-11-2023</a:t>
            </a:fld>
            <a:endParaRPr lang="en-IN"/>
          </a:p>
        </p:txBody>
      </p:sp>
      <p:sp>
        <p:nvSpPr>
          <p:cNvPr id="5" name="Footer Placeholder 4">
            <a:extLst>
              <a:ext uri="{FF2B5EF4-FFF2-40B4-BE49-F238E27FC236}">
                <a16:creationId xmlns:a16="http://schemas.microsoft.com/office/drawing/2014/main" id="{6FB9E41C-544A-DDB9-823E-E9B79A4B07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6E25A88F-70F5-6C95-66E8-3B1A486CF44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200A4-5E41-4755-A2D2-98A607A650C3}" type="slidenum">
              <a:rPr lang="en-IN" smtClean="0"/>
              <a:t>‹#›</a:t>
            </a:fld>
            <a:endParaRPr lang="en-IN"/>
          </a:p>
        </p:txBody>
      </p:sp>
    </p:spTree>
    <p:extLst>
      <p:ext uri="{BB962C8B-B14F-4D97-AF65-F5344CB8AC3E}">
        <p14:creationId xmlns:p14="http://schemas.microsoft.com/office/powerpoint/2010/main" val="10238051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46882-4566-B7BA-9216-BD1FFCE12967}"/>
              </a:ext>
            </a:extLst>
          </p:cNvPr>
          <p:cNvSpPr>
            <a:spLocks noGrp="1"/>
          </p:cNvSpPr>
          <p:nvPr>
            <p:ph type="title"/>
          </p:nvPr>
        </p:nvSpPr>
        <p:spPr>
          <a:xfrm>
            <a:off x="838200" y="365125"/>
            <a:ext cx="10515600" cy="930215"/>
          </a:xfrm>
          <a:solidFill>
            <a:schemeClr val="accent1">
              <a:lumMod val="60000"/>
              <a:lumOff val="40000"/>
            </a:schemeClr>
          </a:solidFill>
        </p:spPr>
        <p:txBody>
          <a:bodyPr/>
          <a:lstStyle/>
          <a:p>
            <a:pPr algn="ctr"/>
            <a:r>
              <a:rPr lang="en-IN" b="1" dirty="0"/>
              <a:t>What is time series data?</a:t>
            </a:r>
          </a:p>
        </p:txBody>
      </p:sp>
      <p:sp>
        <p:nvSpPr>
          <p:cNvPr id="4" name="TextBox 3">
            <a:extLst>
              <a:ext uri="{FF2B5EF4-FFF2-40B4-BE49-F238E27FC236}">
                <a16:creationId xmlns:a16="http://schemas.microsoft.com/office/drawing/2014/main" id="{9391F56A-3F14-7D27-CBBC-FBBEDC98F2F1}"/>
              </a:ext>
            </a:extLst>
          </p:cNvPr>
          <p:cNvSpPr txBox="1"/>
          <p:nvPr/>
        </p:nvSpPr>
        <p:spPr>
          <a:xfrm>
            <a:off x="647114" y="1575581"/>
            <a:ext cx="10706686" cy="1384995"/>
          </a:xfrm>
          <a:prstGeom prst="rect">
            <a:avLst/>
          </a:prstGeom>
          <a:noFill/>
        </p:spPr>
        <p:txBody>
          <a:bodyPr wrap="square">
            <a:spAutoFit/>
          </a:bodyPr>
          <a:lstStyle/>
          <a:p>
            <a:pPr marL="457200" indent="-457200">
              <a:buFont typeface="Wingdings" panose="05000000000000000000" pitchFamily="2" charset="2"/>
              <a:buChar char="Ø"/>
            </a:pPr>
            <a:r>
              <a:rPr lang="en-US" sz="2800" dirty="0" err="1">
                <a:latin typeface="Roboto" panose="02000000000000000000" pitchFamily="2" charset="0"/>
              </a:rPr>
              <a:t>Sequentailly</a:t>
            </a:r>
            <a:r>
              <a:rPr lang="en-US" sz="2800" dirty="0">
                <a:latin typeface="Roboto" panose="02000000000000000000" pitchFamily="2" charset="0"/>
              </a:rPr>
              <a:t> ordered over time</a:t>
            </a:r>
          </a:p>
          <a:p>
            <a:endParaRPr lang="en-US" sz="2800" dirty="0">
              <a:latin typeface="Roboto" panose="02000000000000000000" pitchFamily="2" charset="0"/>
            </a:endParaRPr>
          </a:p>
          <a:p>
            <a:pPr marL="457200" indent="-457200">
              <a:buFont typeface="Wingdings" panose="05000000000000000000" pitchFamily="2" charset="2"/>
              <a:buChar char="Ø"/>
            </a:pPr>
            <a:r>
              <a:rPr lang="en-US" sz="2800" dirty="0">
                <a:latin typeface="Roboto" panose="02000000000000000000" pitchFamily="2" charset="0"/>
              </a:rPr>
              <a:t>Observation are typically collected at regular </a:t>
            </a:r>
            <a:r>
              <a:rPr lang="en-US" sz="2800" dirty="0" err="1">
                <a:latin typeface="Roboto" panose="02000000000000000000" pitchFamily="2" charset="0"/>
              </a:rPr>
              <a:t>intervels</a:t>
            </a:r>
            <a:endParaRPr lang="en-IN" sz="2800" dirty="0"/>
          </a:p>
        </p:txBody>
      </p:sp>
      <p:sp>
        <p:nvSpPr>
          <p:cNvPr id="6" name="TextBox 5">
            <a:extLst>
              <a:ext uri="{FF2B5EF4-FFF2-40B4-BE49-F238E27FC236}">
                <a16:creationId xmlns:a16="http://schemas.microsoft.com/office/drawing/2014/main" id="{D733514D-0B4A-4A4F-9389-B0339D8CA396}"/>
              </a:ext>
            </a:extLst>
          </p:cNvPr>
          <p:cNvSpPr txBox="1"/>
          <p:nvPr/>
        </p:nvSpPr>
        <p:spPr>
          <a:xfrm>
            <a:off x="975360" y="3240817"/>
            <a:ext cx="4862732" cy="2864823"/>
          </a:xfrm>
          <a:prstGeom prst="rect">
            <a:avLst/>
          </a:prstGeom>
          <a:noFill/>
        </p:spPr>
        <p:txBody>
          <a:bodyPr wrap="square">
            <a:spAutoFit/>
          </a:bodyPr>
          <a:lstStyle/>
          <a:p>
            <a:pPr marL="285750" indent="-285750">
              <a:buFont typeface="Wingdings" panose="05000000000000000000" pitchFamily="2" charset="2"/>
              <a:buChar char="v"/>
            </a:pPr>
            <a:r>
              <a:rPr lang="en-US" sz="2400" dirty="0">
                <a:latin typeface="Roboto" panose="02000000000000000000" pitchFamily="2" charset="0"/>
              </a:rPr>
              <a:t>Every Seconds/Minutes/Hours</a:t>
            </a:r>
          </a:p>
          <a:p>
            <a:pPr marL="285750" indent="-285750">
              <a:lnSpc>
                <a:spcPct val="200000"/>
              </a:lnSpc>
              <a:buFont typeface="Wingdings" panose="05000000000000000000" pitchFamily="2" charset="2"/>
              <a:buChar char="v"/>
            </a:pPr>
            <a:r>
              <a:rPr lang="en-US" sz="2400" b="0" i="0" dirty="0">
                <a:effectLst/>
                <a:latin typeface="Roboto" panose="02000000000000000000" pitchFamily="2" charset="0"/>
              </a:rPr>
              <a:t>Daily</a:t>
            </a:r>
          </a:p>
          <a:p>
            <a:pPr marL="285750" indent="-285750">
              <a:lnSpc>
                <a:spcPct val="200000"/>
              </a:lnSpc>
              <a:buFont typeface="Wingdings" panose="05000000000000000000" pitchFamily="2" charset="2"/>
              <a:buChar char="v"/>
            </a:pPr>
            <a:r>
              <a:rPr lang="en-US" sz="2400" b="0" i="0" dirty="0">
                <a:effectLst/>
                <a:latin typeface="Roboto" panose="02000000000000000000" pitchFamily="2" charset="0"/>
              </a:rPr>
              <a:t>Monthly</a:t>
            </a:r>
            <a:endParaRPr lang="en-US" sz="2400" dirty="0">
              <a:latin typeface="Roboto" panose="02000000000000000000" pitchFamily="2" charset="0"/>
            </a:endParaRPr>
          </a:p>
          <a:p>
            <a:pPr marL="285750" indent="-285750">
              <a:lnSpc>
                <a:spcPct val="150000"/>
              </a:lnSpc>
              <a:buFont typeface="Wingdings" panose="05000000000000000000" pitchFamily="2" charset="2"/>
              <a:buChar char="v"/>
            </a:pPr>
            <a:r>
              <a:rPr lang="en-US" sz="2400" b="0" i="0" dirty="0">
                <a:effectLst/>
                <a:latin typeface="Roboto" panose="02000000000000000000" pitchFamily="2" charset="0"/>
              </a:rPr>
              <a:t>Yearly</a:t>
            </a:r>
            <a:r>
              <a:rPr lang="en-US" sz="2400" b="0" i="0" dirty="0">
                <a:solidFill>
                  <a:srgbClr val="FFFFFF"/>
                </a:solidFill>
                <a:effectLst/>
                <a:latin typeface="Roboto" panose="02000000000000000000" pitchFamily="2" charset="0"/>
              </a:rPr>
              <a:t> and trend </a:t>
            </a:r>
            <a:r>
              <a:rPr lang="en-US" b="0" i="0" dirty="0">
                <a:solidFill>
                  <a:srgbClr val="FFFFFF"/>
                </a:solidFill>
                <a:effectLst/>
                <a:latin typeface="Roboto" panose="02000000000000000000" pitchFamily="2" charset="0"/>
              </a:rPr>
              <a:t>in time series analysis</a:t>
            </a:r>
            <a:endParaRPr lang="en-IN" dirty="0"/>
          </a:p>
        </p:txBody>
      </p:sp>
      <p:pic>
        <p:nvPicPr>
          <p:cNvPr id="3" name="Picture 2">
            <a:extLst>
              <a:ext uri="{FF2B5EF4-FFF2-40B4-BE49-F238E27FC236}">
                <a16:creationId xmlns:a16="http://schemas.microsoft.com/office/drawing/2014/main" id="{9ADDAF32-6363-7E9A-8260-CE79F73DD2DD}"/>
              </a:ext>
            </a:extLst>
          </p:cNvPr>
          <p:cNvPicPr>
            <a:picLocks noChangeAspect="1"/>
          </p:cNvPicPr>
          <p:nvPr/>
        </p:nvPicPr>
        <p:blipFill>
          <a:blip r:embed="rId2"/>
          <a:stretch>
            <a:fillRect/>
          </a:stretch>
        </p:blipFill>
        <p:spPr>
          <a:xfrm>
            <a:off x="5666511" y="3240817"/>
            <a:ext cx="5943599" cy="3237257"/>
          </a:xfrm>
          <a:prstGeom prst="rect">
            <a:avLst/>
          </a:prstGeom>
        </p:spPr>
      </p:pic>
    </p:spTree>
    <p:extLst>
      <p:ext uri="{BB962C8B-B14F-4D97-AF65-F5344CB8AC3E}">
        <p14:creationId xmlns:p14="http://schemas.microsoft.com/office/powerpoint/2010/main" val="3500011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9833D-C12F-5E2D-CF07-63A227BEB7A7}"/>
              </a:ext>
            </a:extLst>
          </p:cNvPr>
          <p:cNvSpPr>
            <a:spLocks noGrp="1"/>
          </p:cNvSpPr>
          <p:nvPr>
            <p:ph type="title"/>
          </p:nvPr>
        </p:nvSpPr>
        <p:spPr>
          <a:solidFill>
            <a:schemeClr val="accent1">
              <a:lumMod val="60000"/>
              <a:lumOff val="40000"/>
            </a:schemeClr>
          </a:solidFill>
        </p:spPr>
        <p:txBody>
          <a:bodyPr/>
          <a:lstStyle/>
          <a:p>
            <a:pPr algn="ctr"/>
            <a:r>
              <a:rPr lang="en-IN" b="1" dirty="0"/>
              <a:t>Examples</a:t>
            </a:r>
          </a:p>
        </p:txBody>
      </p:sp>
      <p:sp>
        <p:nvSpPr>
          <p:cNvPr id="4" name="TextBox 3">
            <a:extLst>
              <a:ext uri="{FF2B5EF4-FFF2-40B4-BE49-F238E27FC236}">
                <a16:creationId xmlns:a16="http://schemas.microsoft.com/office/drawing/2014/main" id="{BB71128F-C04C-A39B-594A-ABC042B9284A}"/>
              </a:ext>
            </a:extLst>
          </p:cNvPr>
          <p:cNvSpPr txBox="1"/>
          <p:nvPr/>
        </p:nvSpPr>
        <p:spPr>
          <a:xfrm>
            <a:off x="970673" y="2026081"/>
            <a:ext cx="4642338" cy="3913059"/>
          </a:xfrm>
          <a:prstGeom prst="rect">
            <a:avLst/>
          </a:prstGeom>
          <a:noFill/>
        </p:spPr>
        <p:txBody>
          <a:bodyPr wrap="square">
            <a:spAutoFit/>
          </a:bodyPr>
          <a:lstStyle/>
          <a:p>
            <a:pPr algn="l">
              <a:lnSpc>
                <a:spcPct val="150000"/>
              </a:lnSpc>
              <a:buFont typeface="Arial" panose="020B0604020202020204" pitchFamily="34" charset="0"/>
              <a:buChar char="•"/>
            </a:pPr>
            <a:r>
              <a:rPr lang="en-US" sz="2400" b="0" i="0" dirty="0">
                <a:solidFill>
                  <a:srgbClr val="333333"/>
                </a:solidFill>
                <a:effectLst/>
                <a:latin typeface="Salesforce Sans"/>
              </a:rPr>
              <a:t>Weather data</a:t>
            </a:r>
          </a:p>
          <a:p>
            <a:pPr algn="l">
              <a:lnSpc>
                <a:spcPct val="150000"/>
              </a:lnSpc>
              <a:buFont typeface="Arial" panose="020B0604020202020204" pitchFamily="34" charset="0"/>
              <a:buChar char="•"/>
            </a:pPr>
            <a:r>
              <a:rPr lang="en-US" sz="2400" b="0" i="0" dirty="0">
                <a:solidFill>
                  <a:srgbClr val="333333"/>
                </a:solidFill>
                <a:effectLst/>
                <a:latin typeface="Salesforce Sans"/>
              </a:rPr>
              <a:t>Rainfall measurements</a:t>
            </a:r>
          </a:p>
          <a:p>
            <a:pPr algn="l">
              <a:lnSpc>
                <a:spcPct val="150000"/>
              </a:lnSpc>
              <a:buFont typeface="Arial" panose="020B0604020202020204" pitchFamily="34" charset="0"/>
              <a:buChar char="•"/>
            </a:pPr>
            <a:r>
              <a:rPr lang="en-US" sz="2400" b="0" i="0" dirty="0">
                <a:solidFill>
                  <a:srgbClr val="333333"/>
                </a:solidFill>
                <a:effectLst/>
                <a:latin typeface="Salesforce Sans"/>
              </a:rPr>
              <a:t>Temperature readings</a:t>
            </a:r>
          </a:p>
          <a:p>
            <a:pPr algn="l">
              <a:lnSpc>
                <a:spcPct val="150000"/>
              </a:lnSpc>
              <a:buFont typeface="Arial" panose="020B0604020202020204" pitchFamily="34" charset="0"/>
              <a:buChar char="•"/>
            </a:pPr>
            <a:r>
              <a:rPr lang="en-US" sz="2400" b="0" i="0" dirty="0">
                <a:solidFill>
                  <a:srgbClr val="333333"/>
                </a:solidFill>
                <a:effectLst/>
                <a:latin typeface="Salesforce Sans"/>
              </a:rPr>
              <a:t>Quarterly sales</a:t>
            </a:r>
          </a:p>
          <a:p>
            <a:pPr algn="l">
              <a:lnSpc>
                <a:spcPct val="150000"/>
              </a:lnSpc>
              <a:buFont typeface="Arial" panose="020B0604020202020204" pitchFamily="34" charset="0"/>
              <a:buChar char="•"/>
            </a:pPr>
            <a:r>
              <a:rPr lang="en-US" sz="2400" b="0" i="0" dirty="0">
                <a:solidFill>
                  <a:srgbClr val="333333"/>
                </a:solidFill>
                <a:effectLst/>
                <a:latin typeface="Salesforce Sans"/>
              </a:rPr>
              <a:t>Stock prices</a:t>
            </a:r>
          </a:p>
          <a:p>
            <a:pPr algn="l">
              <a:lnSpc>
                <a:spcPct val="150000"/>
              </a:lnSpc>
              <a:buFont typeface="Arial" panose="020B0604020202020204" pitchFamily="34" charset="0"/>
              <a:buChar char="•"/>
            </a:pPr>
            <a:r>
              <a:rPr lang="en-US" sz="2400" b="0" i="0" dirty="0">
                <a:solidFill>
                  <a:srgbClr val="333333"/>
                </a:solidFill>
                <a:effectLst/>
                <a:latin typeface="Salesforce Sans"/>
              </a:rPr>
              <a:t>Automated stock trading</a:t>
            </a:r>
          </a:p>
          <a:p>
            <a:pPr algn="l">
              <a:lnSpc>
                <a:spcPct val="150000"/>
              </a:lnSpc>
              <a:buFont typeface="Arial" panose="020B0604020202020204" pitchFamily="34" charset="0"/>
              <a:buChar char="•"/>
            </a:pPr>
            <a:r>
              <a:rPr lang="en-US" sz="2400" b="0" i="0" dirty="0">
                <a:solidFill>
                  <a:srgbClr val="333333"/>
                </a:solidFill>
                <a:effectLst/>
                <a:latin typeface="Salesforce Sans"/>
              </a:rPr>
              <a:t>Interest rates</a:t>
            </a:r>
          </a:p>
        </p:txBody>
      </p:sp>
      <p:pic>
        <p:nvPicPr>
          <p:cNvPr id="1026" name="Picture 2" descr="A Tableau workbook showing a standard time series analysis chart.">
            <a:extLst>
              <a:ext uri="{FF2B5EF4-FFF2-40B4-BE49-F238E27FC236}">
                <a16:creationId xmlns:a16="http://schemas.microsoft.com/office/drawing/2014/main" id="{CB0FD10F-63D9-331F-2553-6A9CC67078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13011" y="2261608"/>
            <a:ext cx="6119446" cy="32436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578372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174C975-CB01-5FA5-BCDD-BA70D68D4F37}"/>
              </a:ext>
            </a:extLst>
          </p:cNvPr>
          <p:cNvSpPr>
            <a:spLocks noGrp="1"/>
          </p:cNvSpPr>
          <p:nvPr>
            <p:ph type="title"/>
          </p:nvPr>
        </p:nvSpPr>
        <p:spPr>
          <a:xfrm>
            <a:off x="838200" y="562531"/>
            <a:ext cx="10515600" cy="932412"/>
          </a:xfrm>
          <a:solidFill>
            <a:schemeClr val="accent1">
              <a:lumMod val="60000"/>
              <a:lumOff val="40000"/>
            </a:schemeClr>
          </a:solidFill>
        </p:spPr>
        <p:txBody>
          <a:bodyPr anchor="ctr">
            <a:normAutofit/>
          </a:bodyPr>
          <a:lstStyle/>
          <a:p>
            <a:pPr algn="ctr"/>
            <a:r>
              <a:rPr lang="en-IN" sz="4000" b="1" kern="0" spc="5" dirty="0">
                <a:effectLst/>
                <a:latin typeface="Arial" panose="020B0604020202020204" pitchFamily="34" charset="0"/>
                <a:ea typeface="Times New Roman" panose="02020603050405020304" pitchFamily="18" charset="0"/>
                <a:cs typeface="Times New Roman" panose="02020603050405020304" pitchFamily="18" charset="0"/>
              </a:rPr>
              <a:t>Time Series</a:t>
            </a:r>
            <a:endParaRPr lang="en-IN" sz="4000" dirty="0"/>
          </a:p>
        </p:txBody>
      </p:sp>
      <p:sp>
        <p:nvSpPr>
          <p:cNvPr id="6" name="TextBox 5">
            <a:extLst>
              <a:ext uri="{FF2B5EF4-FFF2-40B4-BE49-F238E27FC236}">
                <a16:creationId xmlns:a16="http://schemas.microsoft.com/office/drawing/2014/main" id="{EBB367DC-E715-4E98-DD86-FADECAB6855C}"/>
              </a:ext>
            </a:extLst>
          </p:cNvPr>
          <p:cNvSpPr txBox="1"/>
          <p:nvPr/>
        </p:nvSpPr>
        <p:spPr>
          <a:xfrm>
            <a:off x="838200" y="1494943"/>
            <a:ext cx="10515600" cy="991169"/>
          </a:xfrm>
          <a:prstGeom prst="rect">
            <a:avLst/>
          </a:prstGeom>
          <a:noFill/>
        </p:spPr>
        <p:txBody>
          <a:bodyPr wrap="square">
            <a:spAutoFit/>
          </a:bodyPr>
          <a:lstStyle/>
          <a:p>
            <a:pPr>
              <a:lnSpc>
                <a:spcPct val="107000"/>
              </a:lnSpc>
              <a:spcAft>
                <a:spcPts val="800"/>
              </a:spcAft>
            </a:pPr>
            <a:r>
              <a:rPr lang="en-IN" sz="2800"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A time series is a sequence of data points that occur in successive order over some period of time. </a:t>
            </a:r>
            <a:endParaRPr lang="en-IN" sz="2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TextBox 8">
            <a:extLst>
              <a:ext uri="{FF2B5EF4-FFF2-40B4-BE49-F238E27FC236}">
                <a16:creationId xmlns:a16="http://schemas.microsoft.com/office/drawing/2014/main" id="{4F377AE4-153D-8416-36BE-6B86C0725EB6}"/>
              </a:ext>
            </a:extLst>
          </p:cNvPr>
          <p:cNvSpPr txBox="1"/>
          <p:nvPr/>
        </p:nvSpPr>
        <p:spPr>
          <a:xfrm>
            <a:off x="838200" y="3012090"/>
            <a:ext cx="3564081" cy="467629"/>
          </a:xfrm>
          <a:prstGeom prst="rect">
            <a:avLst/>
          </a:prstGeom>
          <a:noFill/>
        </p:spPr>
        <p:txBody>
          <a:bodyPr wrap="square">
            <a:spAutoFit/>
          </a:bodyPr>
          <a:lstStyle/>
          <a:p>
            <a:pPr>
              <a:lnSpc>
                <a:spcPct val="107000"/>
              </a:lnSpc>
              <a:spcBef>
                <a:spcPts val="200"/>
              </a:spcBef>
            </a:pPr>
            <a:r>
              <a:rPr lang="en-IN" sz="2400" b="1" kern="100" cap="all" dirty="0">
                <a:solidFill>
                  <a:srgbClr val="111111"/>
                </a:solidFill>
                <a:effectLst/>
                <a:latin typeface="Arial" panose="020B0604020202020204" pitchFamily="34" charset="0"/>
                <a:ea typeface="Times New Roman" panose="02020603050405020304" pitchFamily="18" charset="0"/>
                <a:cs typeface="Times New Roman" panose="02020603050405020304" pitchFamily="18" charset="0"/>
              </a:rPr>
              <a:t>KEY CONCEPT</a:t>
            </a:r>
            <a:endParaRPr lang="en-IN" sz="2400" b="1" kern="100" dirty="0">
              <a:solidFill>
                <a:srgbClr val="1F3763"/>
              </a:solidFill>
              <a:effectLst/>
              <a:latin typeface="Calibri Light" panose="020F0302020204030204" pitchFamily="34" charset="0"/>
              <a:ea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4E93D7AC-64B7-3A36-5F7C-A8C09A0A4165}"/>
              </a:ext>
            </a:extLst>
          </p:cNvPr>
          <p:cNvSpPr txBox="1"/>
          <p:nvPr/>
        </p:nvSpPr>
        <p:spPr>
          <a:xfrm>
            <a:off x="838200" y="3751755"/>
            <a:ext cx="3373582" cy="1963294"/>
          </a:xfrm>
          <a:prstGeom prst="rect">
            <a:avLst/>
          </a:prstGeom>
          <a:solidFill>
            <a:schemeClr val="accent1">
              <a:lumMod val="20000"/>
              <a:lumOff val="80000"/>
              <a:alpha val="86000"/>
            </a:schemeClr>
          </a:solidFill>
          <a:ln>
            <a:noFill/>
          </a:ln>
          <a:effectLst>
            <a:softEdge rad="0"/>
          </a:effectLst>
        </p:spPr>
        <p:txBody>
          <a:bodyPr wrap="square">
            <a:spAutoFit/>
          </a:bodyPr>
          <a:lstStyle/>
          <a:p>
            <a:pPr marL="342900" lvl="0" indent="-342900">
              <a:lnSpc>
                <a:spcPct val="107000"/>
              </a:lnSpc>
              <a:spcAft>
                <a:spcPts val="800"/>
              </a:spcAft>
              <a:buSzPts val="1000"/>
              <a:buFont typeface="Wingdings" panose="05000000000000000000" pitchFamily="2" charset="2"/>
              <a:buChar char="Ø"/>
              <a:tabLst>
                <a:tab pos="457200" algn="l"/>
              </a:tabLst>
            </a:pPr>
            <a:r>
              <a:rPr lang="en-IN" sz="2400" kern="100" dirty="0">
                <a:solidFill>
                  <a:srgbClr val="111111"/>
                </a:solidFill>
                <a:latin typeface="Calibri" panose="020F0502020204030204" pitchFamily="34" charset="0"/>
                <a:ea typeface="Calibri" panose="020F0502020204030204" pitchFamily="34" charset="0"/>
                <a:cs typeface="Times New Roman" panose="02020603050405020304" pitchFamily="18" charset="0"/>
              </a:rPr>
              <a:t>Trend</a:t>
            </a:r>
          </a:p>
          <a:p>
            <a:pPr marL="342900" lvl="0" indent="-342900">
              <a:lnSpc>
                <a:spcPct val="107000"/>
              </a:lnSpc>
              <a:spcAft>
                <a:spcPts val="800"/>
              </a:spcAft>
              <a:buSzPts val="1000"/>
              <a:buFont typeface="Wingdings" panose="05000000000000000000" pitchFamily="2" charset="2"/>
              <a:buChar char="Ø"/>
              <a:tabLst>
                <a:tab pos="457200" algn="l"/>
              </a:tabLst>
            </a:pPr>
            <a:r>
              <a:rPr lang="en-IN" sz="2400" kern="100" dirty="0">
                <a:solidFill>
                  <a:srgbClr val="111111"/>
                </a:solidFill>
                <a:effectLst/>
                <a:latin typeface="Calibri" panose="020F0502020204030204" pitchFamily="34" charset="0"/>
                <a:ea typeface="Calibri" panose="020F0502020204030204" pitchFamily="34" charset="0"/>
                <a:cs typeface="Times New Roman" panose="02020603050405020304" pitchFamily="18" charset="0"/>
              </a:rPr>
              <a:t>Seasonality</a:t>
            </a:r>
          </a:p>
          <a:p>
            <a:pPr marL="342900" lvl="0" indent="-342900">
              <a:lnSpc>
                <a:spcPct val="107000"/>
              </a:lnSpc>
              <a:spcAft>
                <a:spcPts val="800"/>
              </a:spcAft>
              <a:buSzPts val="1000"/>
              <a:buFont typeface="Wingdings" panose="05000000000000000000" pitchFamily="2" charset="2"/>
              <a:buChar char="Ø"/>
              <a:tabLst>
                <a:tab pos="457200" algn="l"/>
              </a:tabLst>
            </a:pPr>
            <a:r>
              <a:rPr lang="en-IN" sz="2400" kern="100" dirty="0">
                <a:solidFill>
                  <a:srgbClr val="111111"/>
                </a:solidFill>
                <a:latin typeface="Calibri" panose="020F0502020204030204" pitchFamily="34" charset="0"/>
                <a:ea typeface="Calibri" panose="020F0502020204030204" pitchFamily="34" charset="0"/>
                <a:cs typeface="Times New Roman" panose="02020603050405020304" pitchFamily="18" charset="0"/>
              </a:rPr>
              <a:t>Cyclic</a:t>
            </a:r>
          </a:p>
          <a:p>
            <a:pPr marL="342900" lvl="0" indent="-342900">
              <a:lnSpc>
                <a:spcPct val="107000"/>
              </a:lnSpc>
              <a:spcAft>
                <a:spcPts val="800"/>
              </a:spcAft>
              <a:buSzPts val="1000"/>
              <a:buFont typeface="Wingdings" panose="05000000000000000000" pitchFamily="2" charset="2"/>
              <a:buChar char="Ø"/>
              <a:tabLst>
                <a:tab pos="457200" algn="l"/>
              </a:tabLst>
            </a:pPr>
            <a:r>
              <a:rPr lang="en-IN" sz="2400" kern="100" dirty="0">
                <a:solidFill>
                  <a:srgbClr val="111111"/>
                </a:solidFill>
                <a:latin typeface="Calibri" panose="020F0502020204030204" pitchFamily="34" charset="0"/>
                <a:ea typeface="Calibri" panose="020F0502020204030204" pitchFamily="34" charset="0"/>
                <a:cs typeface="Times New Roman" panose="02020603050405020304" pitchFamily="18" charset="0"/>
              </a:rPr>
              <a:t>Irregular</a:t>
            </a:r>
          </a:p>
        </p:txBody>
      </p:sp>
      <p:pic>
        <p:nvPicPr>
          <p:cNvPr id="3" name="Picture 2">
            <a:extLst>
              <a:ext uri="{FF2B5EF4-FFF2-40B4-BE49-F238E27FC236}">
                <a16:creationId xmlns:a16="http://schemas.microsoft.com/office/drawing/2014/main" id="{8025359C-9834-02A9-6D2C-682F9A1CB1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2281" y="2427355"/>
            <a:ext cx="6853137" cy="4430645"/>
          </a:xfrm>
          <a:prstGeom prst="rect">
            <a:avLst/>
          </a:prstGeom>
        </p:spPr>
      </p:pic>
    </p:spTree>
    <p:extLst>
      <p:ext uri="{BB962C8B-B14F-4D97-AF65-F5344CB8AC3E}">
        <p14:creationId xmlns:p14="http://schemas.microsoft.com/office/powerpoint/2010/main" val="1286696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BBA1B-F35D-8B92-0A22-58B28902CBE4}"/>
              </a:ext>
            </a:extLst>
          </p:cNvPr>
          <p:cNvSpPr>
            <a:spLocks noGrp="1"/>
          </p:cNvSpPr>
          <p:nvPr>
            <p:ph type="title"/>
          </p:nvPr>
        </p:nvSpPr>
        <p:spPr>
          <a:xfrm>
            <a:off x="838200" y="351272"/>
            <a:ext cx="10515600" cy="964910"/>
          </a:xfrm>
          <a:solidFill>
            <a:schemeClr val="accent1">
              <a:lumMod val="60000"/>
              <a:lumOff val="40000"/>
            </a:schemeClr>
          </a:solidFill>
        </p:spPr>
        <p:txBody>
          <a:bodyPr anchor="ctr">
            <a:normAutofit/>
          </a:bodyPr>
          <a:lstStyle/>
          <a:p>
            <a:pPr algn="ctr"/>
            <a:r>
              <a:rPr lang="en-IN" sz="4000" b="1" i="0" dirty="0">
                <a:solidFill>
                  <a:srgbClr val="242424"/>
                </a:solidFill>
                <a:effectLst/>
                <a:latin typeface="sohne"/>
              </a:rPr>
              <a:t>Components of Time Series</a:t>
            </a:r>
            <a:endParaRPr lang="en-IN" sz="4000" b="1" dirty="0"/>
          </a:p>
        </p:txBody>
      </p:sp>
      <p:sp>
        <p:nvSpPr>
          <p:cNvPr id="4" name="TextBox 3">
            <a:extLst>
              <a:ext uri="{FF2B5EF4-FFF2-40B4-BE49-F238E27FC236}">
                <a16:creationId xmlns:a16="http://schemas.microsoft.com/office/drawing/2014/main" id="{365333F4-C2EA-42C9-5A22-F9E48942EBA8}"/>
              </a:ext>
            </a:extLst>
          </p:cNvPr>
          <p:cNvSpPr txBox="1"/>
          <p:nvPr/>
        </p:nvSpPr>
        <p:spPr>
          <a:xfrm>
            <a:off x="1097973" y="1775844"/>
            <a:ext cx="9996054" cy="369332"/>
          </a:xfrm>
          <a:prstGeom prst="rect">
            <a:avLst/>
          </a:prstGeom>
          <a:noFill/>
        </p:spPr>
        <p:txBody>
          <a:bodyPr wrap="square">
            <a:spAutoFit/>
          </a:bodyPr>
          <a:lstStyle/>
          <a:p>
            <a:r>
              <a:rPr lang="en-US" b="1" i="0" dirty="0">
                <a:solidFill>
                  <a:srgbClr val="333333"/>
                </a:solidFill>
                <a:effectLst/>
                <a:latin typeface="Salesforce Sans"/>
              </a:rPr>
              <a:t> 	</a:t>
            </a:r>
            <a:endParaRPr lang="en-IN" sz="2400" dirty="0">
              <a:solidFill>
                <a:schemeClr val="accent5">
                  <a:lumMod val="50000"/>
                </a:schemeClr>
              </a:solidFill>
            </a:endParaRPr>
          </a:p>
        </p:txBody>
      </p:sp>
      <p:sp>
        <p:nvSpPr>
          <p:cNvPr id="6" name="TextBox 5">
            <a:extLst>
              <a:ext uri="{FF2B5EF4-FFF2-40B4-BE49-F238E27FC236}">
                <a16:creationId xmlns:a16="http://schemas.microsoft.com/office/drawing/2014/main" id="{CE69818D-7C9C-9324-FB85-1F65693E222A}"/>
              </a:ext>
            </a:extLst>
          </p:cNvPr>
          <p:cNvSpPr txBox="1"/>
          <p:nvPr/>
        </p:nvSpPr>
        <p:spPr>
          <a:xfrm>
            <a:off x="990601" y="1775844"/>
            <a:ext cx="9996054" cy="4524315"/>
          </a:xfrm>
          <a:prstGeom prst="rect">
            <a:avLst/>
          </a:prstGeom>
          <a:noFill/>
        </p:spPr>
        <p:txBody>
          <a:bodyPr wrap="square">
            <a:spAutoFit/>
          </a:bodyPr>
          <a:lstStyle/>
          <a:p>
            <a:pPr algn="l">
              <a:buFont typeface="+mj-lt"/>
              <a:buAutoNum type="arabicPeriod"/>
            </a:pPr>
            <a:r>
              <a:rPr lang="en-US" sz="3200" b="1" i="1" dirty="0">
                <a:solidFill>
                  <a:srgbClr val="242424"/>
                </a:solidFill>
                <a:effectLst/>
                <a:latin typeface="source-serif-pro"/>
              </a:rPr>
              <a:t>Trend</a:t>
            </a:r>
            <a:r>
              <a:rPr lang="en-US" sz="3200" b="0" i="0" dirty="0">
                <a:solidFill>
                  <a:srgbClr val="242424"/>
                </a:solidFill>
                <a:effectLst/>
                <a:latin typeface="source-serif-pro"/>
              </a:rPr>
              <a:t>: The linear increasing or decreasing behavior of the series over time.</a:t>
            </a:r>
          </a:p>
          <a:p>
            <a:pPr algn="l">
              <a:buFont typeface="+mj-lt"/>
              <a:buAutoNum type="arabicPeriod"/>
            </a:pPr>
            <a:r>
              <a:rPr lang="en-US" sz="3200" b="1" i="1" dirty="0">
                <a:solidFill>
                  <a:srgbClr val="242424"/>
                </a:solidFill>
                <a:effectLst/>
                <a:latin typeface="source-serif-pro"/>
              </a:rPr>
              <a:t>Seasonality</a:t>
            </a:r>
            <a:r>
              <a:rPr lang="en-US" sz="3200" b="0" i="0" dirty="0">
                <a:solidFill>
                  <a:srgbClr val="242424"/>
                </a:solidFill>
                <a:effectLst/>
                <a:latin typeface="source-serif-pro"/>
              </a:rPr>
              <a:t>: The repeating patterns or cycles of behavior over time.</a:t>
            </a:r>
          </a:p>
          <a:p>
            <a:pPr>
              <a:buFont typeface="+mj-lt"/>
              <a:buAutoNum type="arabicPeriod"/>
            </a:pPr>
            <a:r>
              <a:rPr lang="en-IN" sz="3200" b="1" i="1" kern="100" dirty="0">
                <a:solidFill>
                  <a:srgbClr val="111111"/>
                </a:solidFill>
                <a:latin typeface="Calibri" panose="020F0502020204030204" pitchFamily="34" charset="0"/>
                <a:ea typeface="Calibri" panose="020F0502020204030204" pitchFamily="34" charset="0"/>
                <a:cs typeface="Times New Roman" panose="02020603050405020304" pitchFamily="18" charset="0"/>
              </a:rPr>
              <a:t>Cyclic:</a:t>
            </a:r>
            <a:r>
              <a:rPr lang="en-US" sz="3200" kern="100" dirty="0">
                <a:solidFill>
                  <a:srgbClr val="111111"/>
                </a:solidFill>
                <a:latin typeface="Minion Pro"/>
                <a:ea typeface="Calibri" panose="020F0502020204030204" pitchFamily="34" charset="0"/>
                <a:cs typeface="Times New Roman" panose="02020603050405020304" pitchFamily="18" charset="0"/>
              </a:rPr>
              <a:t>D</a:t>
            </a:r>
            <a:r>
              <a:rPr lang="en-US" sz="3200" b="0" i="0" dirty="0">
                <a:effectLst/>
                <a:latin typeface="Minion Pro"/>
              </a:rPr>
              <a:t>ue to the business cycle and every organization has to phase all the four phases of a business cycle such as boom, recession, depression, and recovery</a:t>
            </a:r>
            <a:endParaRPr lang="en-US" sz="3200" b="0" i="0" dirty="0">
              <a:solidFill>
                <a:srgbClr val="242424"/>
              </a:solidFill>
              <a:effectLst/>
              <a:latin typeface="source-serif-pro"/>
            </a:endParaRPr>
          </a:p>
          <a:p>
            <a:pPr>
              <a:buFont typeface="+mj-lt"/>
              <a:buAutoNum type="arabicPeriod"/>
            </a:pPr>
            <a:r>
              <a:rPr lang="en-US" sz="3200" b="1" i="1" dirty="0">
                <a:solidFill>
                  <a:srgbClr val="242424"/>
                </a:solidFill>
                <a:effectLst/>
                <a:latin typeface="source-serif-pro"/>
              </a:rPr>
              <a:t>Noise[</a:t>
            </a:r>
            <a:r>
              <a:rPr lang="en-IN" sz="3200" b="1" i="1" kern="100" dirty="0">
                <a:solidFill>
                  <a:srgbClr val="111111"/>
                </a:solidFill>
                <a:latin typeface="Calibri" panose="020F0502020204030204" pitchFamily="34" charset="0"/>
                <a:ea typeface="Calibri" panose="020F0502020204030204" pitchFamily="34" charset="0"/>
                <a:cs typeface="Times New Roman" panose="02020603050405020304" pitchFamily="18" charset="0"/>
              </a:rPr>
              <a:t>Irregular</a:t>
            </a:r>
            <a:r>
              <a:rPr lang="en-US" sz="3200" b="1" i="1" dirty="0">
                <a:solidFill>
                  <a:srgbClr val="242424"/>
                </a:solidFill>
                <a:effectLst/>
                <a:latin typeface="source-serif-pro"/>
              </a:rPr>
              <a:t>]</a:t>
            </a:r>
            <a:r>
              <a:rPr lang="en-US" sz="3200" b="0" i="0" dirty="0">
                <a:solidFill>
                  <a:srgbClr val="242424"/>
                </a:solidFill>
                <a:effectLst/>
                <a:latin typeface="source-serif-pro"/>
              </a:rPr>
              <a:t>: The variability in the observations that cannot be explained by the model</a:t>
            </a:r>
            <a:r>
              <a:rPr lang="en-US" b="0" i="0" dirty="0">
                <a:solidFill>
                  <a:srgbClr val="242424"/>
                </a:solidFill>
                <a:effectLst/>
                <a:latin typeface="source-serif-pro"/>
              </a:rPr>
              <a:t>.</a:t>
            </a:r>
          </a:p>
        </p:txBody>
      </p:sp>
    </p:spTree>
    <p:extLst>
      <p:ext uri="{BB962C8B-B14F-4D97-AF65-F5344CB8AC3E}">
        <p14:creationId xmlns:p14="http://schemas.microsoft.com/office/powerpoint/2010/main" val="12754361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9F058E7-8C95-DAFE-6238-72BC6DDB20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3509" y="41565"/>
            <a:ext cx="10792691" cy="6858000"/>
          </a:xfrm>
          <a:prstGeom prst="rect">
            <a:avLst/>
          </a:prstGeom>
        </p:spPr>
      </p:pic>
    </p:spTree>
    <p:extLst>
      <p:ext uri="{BB962C8B-B14F-4D97-AF65-F5344CB8AC3E}">
        <p14:creationId xmlns:p14="http://schemas.microsoft.com/office/powerpoint/2010/main" val="2455997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4F03F52-7ED8-4717-3FB6-C4B078893782}"/>
              </a:ext>
            </a:extLst>
          </p:cNvPr>
          <p:cNvSpPr txBox="1"/>
          <p:nvPr/>
        </p:nvSpPr>
        <p:spPr>
          <a:xfrm>
            <a:off x="741218" y="334880"/>
            <a:ext cx="10709563" cy="769441"/>
          </a:xfrm>
          <a:prstGeom prst="rect">
            <a:avLst/>
          </a:prstGeom>
          <a:solidFill>
            <a:srgbClr val="9FB6E1"/>
          </a:solidFill>
        </p:spPr>
        <p:txBody>
          <a:bodyPr wrap="square">
            <a:spAutoFit/>
          </a:bodyPr>
          <a:lstStyle/>
          <a:p>
            <a:pPr algn="ctr"/>
            <a:r>
              <a:rPr lang="en-IN" sz="4400" b="1" i="0" dirty="0">
                <a:effectLst/>
                <a:latin typeface="Söhne"/>
              </a:rPr>
              <a:t>Stationary Time Series</a:t>
            </a:r>
            <a:endParaRPr lang="en-IN" b="1" i="0" dirty="0">
              <a:effectLst/>
              <a:latin typeface="Söhne"/>
            </a:endParaRPr>
          </a:p>
        </p:txBody>
      </p:sp>
      <p:sp>
        <p:nvSpPr>
          <p:cNvPr id="5" name="TextBox 4">
            <a:extLst>
              <a:ext uri="{FF2B5EF4-FFF2-40B4-BE49-F238E27FC236}">
                <a16:creationId xmlns:a16="http://schemas.microsoft.com/office/drawing/2014/main" id="{A5427E83-CFA0-7DC6-881B-CF5817C026F8}"/>
              </a:ext>
            </a:extLst>
          </p:cNvPr>
          <p:cNvSpPr txBox="1"/>
          <p:nvPr/>
        </p:nvSpPr>
        <p:spPr>
          <a:xfrm>
            <a:off x="845127" y="1457189"/>
            <a:ext cx="10605653" cy="954107"/>
          </a:xfrm>
          <a:prstGeom prst="rect">
            <a:avLst/>
          </a:prstGeom>
          <a:solidFill>
            <a:schemeClr val="bg1"/>
          </a:solidFill>
        </p:spPr>
        <p:txBody>
          <a:bodyPr wrap="square">
            <a:spAutoFit/>
          </a:bodyPr>
          <a:lstStyle/>
          <a:p>
            <a:r>
              <a:rPr lang="en-US" sz="2800" b="0" i="0" dirty="0">
                <a:effectLst/>
                <a:latin typeface="Söhne"/>
              </a:rPr>
              <a:t>A time series is considered stationary if its statistical properties, such as mean, variance, and autocorrelation, remain constant over time. </a:t>
            </a:r>
          </a:p>
        </p:txBody>
      </p:sp>
      <p:sp>
        <p:nvSpPr>
          <p:cNvPr id="9" name="TextBox 8">
            <a:extLst>
              <a:ext uri="{FF2B5EF4-FFF2-40B4-BE49-F238E27FC236}">
                <a16:creationId xmlns:a16="http://schemas.microsoft.com/office/drawing/2014/main" id="{ED5D7B30-AE97-2071-CA52-B9471E861303}"/>
              </a:ext>
            </a:extLst>
          </p:cNvPr>
          <p:cNvSpPr txBox="1"/>
          <p:nvPr/>
        </p:nvSpPr>
        <p:spPr>
          <a:xfrm>
            <a:off x="741218" y="2446156"/>
            <a:ext cx="6276110" cy="2954655"/>
          </a:xfrm>
          <a:prstGeom prst="rect">
            <a:avLst/>
          </a:prstGeom>
          <a:noFill/>
        </p:spPr>
        <p:txBody>
          <a:bodyPr wrap="square">
            <a:spAutoFit/>
          </a:bodyPr>
          <a:lstStyle/>
          <a:p>
            <a:pPr>
              <a:lnSpc>
                <a:spcPct val="150000"/>
              </a:lnSpc>
            </a:pPr>
            <a:r>
              <a:rPr lang="en-US" sz="2800" b="0" i="0" dirty="0">
                <a:solidFill>
                  <a:schemeClr val="accent5">
                    <a:lumMod val="50000"/>
                  </a:schemeClr>
                </a:solidFill>
                <a:effectLst/>
                <a:latin typeface="Söhne"/>
              </a:rPr>
              <a:t>There are two types of stationarity:</a:t>
            </a:r>
          </a:p>
          <a:p>
            <a:pPr algn="l">
              <a:buFont typeface="+mj-lt"/>
              <a:buAutoNum type="arabicPeriod"/>
            </a:pPr>
            <a:r>
              <a:rPr lang="en-US" sz="2400" b="1" i="0" dirty="0">
                <a:effectLst/>
                <a:latin typeface="Söhne"/>
              </a:rPr>
              <a:t>Strict Stationarity:</a:t>
            </a:r>
            <a:r>
              <a:rPr lang="en-US" sz="2400" b="0" i="0" dirty="0">
                <a:effectLst/>
                <a:latin typeface="Söhne"/>
              </a:rPr>
              <a:t> The entire probability distribution of the data is time-invariant.</a:t>
            </a:r>
          </a:p>
          <a:p>
            <a:pPr algn="l">
              <a:buFont typeface="+mj-lt"/>
              <a:buAutoNum type="arabicPeriod"/>
            </a:pPr>
            <a:r>
              <a:rPr lang="en-US" sz="2400" b="1" i="0" dirty="0">
                <a:effectLst/>
                <a:latin typeface="Söhne"/>
              </a:rPr>
              <a:t>Trend Stationarity (Weak Stationarity):</a:t>
            </a:r>
            <a:r>
              <a:rPr lang="en-US" sz="2400" b="0" i="0" dirty="0">
                <a:effectLst/>
                <a:latin typeface="Söhne"/>
              </a:rPr>
              <a:t> The mean, variance, and autocorrelation are constant over time, but not necessarily the entire probability distribution.</a:t>
            </a:r>
          </a:p>
        </p:txBody>
      </p:sp>
      <p:graphicFrame>
        <p:nvGraphicFramePr>
          <p:cNvPr id="10" name="Table 9">
            <a:extLst>
              <a:ext uri="{FF2B5EF4-FFF2-40B4-BE49-F238E27FC236}">
                <a16:creationId xmlns:a16="http://schemas.microsoft.com/office/drawing/2014/main" id="{7038FBEF-C0E5-6371-FFB4-79CF3153816A}"/>
              </a:ext>
            </a:extLst>
          </p:cNvPr>
          <p:cNvGraphicFramePr>
            <a:graphicFrameLocks noGrp="1"/>
          </p:cNvGraphicFramePr>
          <p:nvPr>
            <p:extLst>
              <p:ext uri="{D42A27DB-BD31-4B8C-83A1-F6EECF244321}">
                <p14:modId xmlns:p14="http://schemas.microsoft.com/office/powerpoint/2010/main" val="1756432720"/>
              </p:ext>
            </p:extLst>
          </p:nvPr>
        </p:nvGraphicFramePr>
        <p:xfrm>
          <a:off x="8010235" y="3334185"/>
          <a:ext cx="2325256" cy="2225040"/>
        </p:xfrm>
        <a:graphic>
          <a:graphicData uri="http://schemas.openxmlformats.org/drawingml/2006/table">
            <a:tbl>
              <a:tblPr firstRow="1" bandRow="1">
                <a:tableStyleId>{5C22544A-7EE6-4342-B048-85BDC9FD1C3A}</a:tableStyleId>
              </a:tblPr>
              <a:tblGrid>
                <a:gridCol w="1162628">
                  <a:extLst>
                    <a:ext uri="{9D8B030D-6E8A-4147-A177-3AD203B41FA5}">
                      <a16:colId xmlns:a16="http://schemas.microsoft.com/office/drawing/2014/main" val="2767848594"/>
                    </a:ext>
                  </a:extLst>
                </a:gridCol>
                <a:gridCol w="1162628">
                  <a:extLst>
                    <a:ext uri="{9D8B030D-6E8A-4147-A177-3AD203B41FA5}">
                      <a16:colId xmlns:a16="http://schemas.microsoft.com/office/drawing/2014/main" val="1745418092"/>
                    </a:ext>
                  </a:extLst>
                </a:gridCol>
              </a:tblGrid>
              <a:tr h="370840">
                <a:tc>
                  <a:txBody>
                    <a:bodyPr/>
                    <a:lstStyle/>
                    <a:p>
                      <a:r>
                        <a:rPr lang="en-IN" dirty="0"/>
                        <a:t>period</a:t>
                      </a:r>
                    </a:p>
                  </a:txBody>
                  <a:tcPr/>
                </a:tc>
                <a:tc>
                  <a:txBody>
                    <a:bodyPr/>
                    <a:lstStyle/>
                    <a:p>
                      <a:r>
                        <a:rPr lang="en-IN" dirty="0"/>
                        <a:t>Value</a:t>
                      </a:r>
                    </a:p>
                  </a:txBody>
                  <a:tcPr/>
                </a:tc>
                <a:extLst>
                  <a:ext uri="{0D108BD9-81ED-4DB2-BD59-A6C34878D82A}">
                    <a16:rowId xmlns:a16="http://schemas.microsoft.com/office/drawing/2014/main" val="1281685831"/>
                  </a:ext>
                </a:extLst>
              </a:tr>
              <a:tr h="370840">
                <a:tc>
                  <a:txBody>
                    <a:bodyPr/>
                    <a:lstStyle/>
                    <a:p>
                      <a:r>
                        <a:rPr lang="en-IN" dirty="0"/>
                        <a:t>1</a:t>
                      </a:r>
                    </a:p>
                  </a:txBody>
                  <a:tcPr/>
                </a:tc>
                <a:tc>
                  <a:txBody>
                    <a:bodyPr/>
                    <a:lstStyle/>
                    <a:p>
                      <a:r>
                        <a:rPr lang="en-IN" dirty="0"/>
                        <a:t>7</a:t>
                      </a:r>
                    </a:p>
                  </a:txBody>
                  <a:tcPr/>
                </a:tc>
                <a:extLst>
                  <a:ext uri="{0D108BD9-81ED-4DB2-BD59-A6C34878D82A}">
                    <a16:rowId xmlns:a16="http://schemas.microsoft.com/office/drawing/2014/main" val="3584655583"/>
                  </a:ext>
                </a:extLst>
              </a:tr>
              <a:tr h="370840">
                <a:tc>
                  <a:txBody>
                    <a:bodyPr/>
                    <a:lstStyle/>
                    <a:p>
                      <a:r>
                        <a:rPr lang="en-IN" dirty="0"/>
                        <a:t>2</a:t>
                      </a:r>
                    </a:p>
                  </a:txBody>
                  <a:tcPr/>
                </a:tc>
                <a:tc>
                  <a:txBody>
                    <a:bodyPr/>
                    <a:lstStyle/>
                    <a:p>
                      <a:r>
                        <a:rPr lang="en-IN" dirty="0"/>
                        <a:t>5</a:t>
                      </a:r>
                    </a:p>
                  </a:txBody>
                  <a:tcPr/>
                </a:tc>
                <a:extLst>
                  <a:ext uri="{0D108BD9-81ED-4DB2-BD59-A6C34878D82A}">
                    <a16:rowId xmlns:a16="http://schemas.microsoft.com/office/drawing/2014/main" val="905759847"/>
                  </a:ext>
                </a:extLst>
              </a:tr>
              <a:tr h="370840">
                <a:tc>
                  <a:txBody>
                    <a:bodyPr/>
                    <a:lstStyle/>
                    <a:p>
                      <a:r>
                        <a:rPr lang="en-IN" dirty="0"/>
                        <a:t>3</a:t>
                      </a:r>
                    </a:p>
                  </a:txBody>
                  <a:tcPr/>
                </a:tc>
                <a:tc>
                  <a:txBody>
                    <a:bodyPr/>
                    <a:lstStyle/>
                    <a:p>
                      <a:r>
                        <a:rPr lang="en-IN" dirty="0"/>
                        <a:t>7</a:t>
                      </a:r>
                    </a:p>
                  </a:txBody>
                  <a:tcPr/>
                </a:tc>
                <a:extLst>
                  <a:ext uri="{0D108BD9-81ED-4DB2-BD59-A6C34878D82A}">
                    <a16:rowId xmlns:a16="http://schemas.microsoft.com/office/drawing/2014/main" val="3201855250"/>
                  </a:ext>
                </a:extLst>
              </a:tr>
              <a:tr h="370840">
                <a:tc>
                  <a:txBody>
                    <a:bodyPr/>
                    <a:lstStyle/>
                    <a:p>
                      <a:r>
                        <a:rPr lang="en-IN" dirty="0"/>
                        <a:t>4</a:t>
                      </a:r>
                    </a:p>
                  </a:txBody>
                  <a:tcPr/>
                </a:tc>
                <a:tc>
                  <a:txBody>
                    <a:bodyPr/>
                    <a:lstStyle/>
                    <a:p>
                      <a:r>
                        <a:rPr lang="en-IN" dirty="0"/>
                        <a:t>6</a:t>
                      </a:r>
                    </a:p>
                  </a:txBody>
                  <a:tcPr/>
                </a:tc>
                <a:extLst>
                  <a:ext uri="{0D108BD9-81ED-4DB2-BD59-A6C34878D82A}">
                    <a16:rowId xmlns:a16="http://schemas.microsoft.com/office/drawing/2014/main" val="837204789"/>
                  </a:ext>
                </a:extLst>
              </a:tr>
              <a:tr h="370840">
                <a:tc>
                  <a:txBody>
                    <a:bodyPr/>
                    <a:lstStyle/>
                    <a:p>
                      <a:r>
                        <a:rPr lang="en-IN" dirty="0"/>
                        <a:t>5</a:t>
                      </a:r>
                    </a:p>
                  </a:txBody>
                  <a:tcPr/>
                </a:tc>
                <a:tc>
                  <a:txBody>
                    <a:bodyPr/>
                    <a:lstStyle/>
                    <a:p>
                      <a:r>
                        <a:rPr lang="en-IN" dirty="0"/>
                        <a:t>8</a:t>
                      </a:r>
                    </a:p>
                  </a:txBody>
                  <a:tcPr/>
                </a:tc>
                <a:extLst>
                  <a:ext uri="{0D108BD9-81ED-4DB2-BD59-A6C34878D82A}">
                    <a16:rowId xmlns:a16="http://schemas.microsoft.com/office/drawing/2014/main" val="1947573130"/>
                  </a:ext>
                </a:extLst>
              </a:tr>
            </a:tbl>
          </a:graphicData>
        </a:graphic>
      </p:graphicFrame>
      <p:sp>
        <p:nvSpPr>
          <p:cNvPr id="13" name="TextBox 12">
            <a:extLst>
              <a:ext uri="{FF2B5EF4-FFF2-40B4-BE49-F238E27FC236}">
                <a16:creationId xmlns:a16="http://schemas.microsoft.com/office/drawing/2014/main" id="{EE23F6D3-1F1E-3401-327A-6AEE2DF747C7}"/>
              </a:ext>
            </a:extLst>
          </p:cNvPr>
          <p:cNvSpPr txBox="1"/>
          <p:nvPr/>
        </p:nvSpPr>
        <p:spPr>
          <a:xfrm>
            <a:off x="7622307" y="2685612"/>
            <a:ext cx="3655293" cy="400110"/>
          </a:xfrm>
          <a:prstGeom prst="rect">
            <a:avLst/>
          </a:prstGeom>
          <a:noFill/>
        </p:spPr>
        <p:txBody>
          <a:bodyPr wrap="square">
            <a:spAutoFit/>
          </a:bodyPr>
          <a:lstStyle/>
          <a:p>
            <a:r>
              <a:rPr lang="en-IN" sz="2000" b="1" i="1" dirty="0"/>
              <a:t>Example Stationary time Series</a:t>
            </a:r>
          </a:p>
        </p:txBody>
      </p:sp>
    </p:spTree>
    <p:extLst>
      <p:ext uri="{BB962C8B-B14F-4D97-AF65-F5344CB8AC3E}">
        <p14:creationId xmlns:p14="http://schemas.microsoft.com/office/powerpoint/2010/main" val="3813748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3E9941-B29A-75A3-D024-BB9193C16B40}"/>
              </a:ext>
            </a:extLst>
          </p:cNvPr>
          <p:cNvSpPr txBox="1"/>
          <p:nvPr/>
        </p:nvSpPr>
        <p:spPr>
          <a:xfrm>
            <a:off x="665018" y="376442"/>
            <a:ext cx="10238509" cy="707886"/>
          </a:xfrm>
          <a:prstGeom prst="rect">
            <a:avLst/>
          </a:prstGeom>
          <a:solidFill>
            <a:srgbClr val="9FB6E1"/>
          </a:solidFill>
        </p:spPr>
        <p:txBody>
          <a:bodyPr wrap="square">
            <a:spAutoFit/>
          </a:bodyPr>
          <a:lstStyle/>
          <a:p>
            <a:pPr algn="ctr"/>
            <a:r>
              <a:rPr lang="en-IN" sz="4000" b="1" i="0" dirty="0">
                <a:effectLst/>
                <a:latin typeface="Söhne"/>
              </a:rPr>
              <a:t>Non-Stationary Time Series</a:t>
            </a:r>
          </a:p>
        </p:txBody>
      </p:sp>
      <p:sp>
        <p:nvSpPr>
          <p:cNvPr id="5" name="TextBox 4">
            <a:extLst>
              <a:ext uri="{FF2B5EF4-FFF2-40B4-BE49-F238E27FC236}">
                <a16:creationId xmlns:a16="http://schemas.microsoft.com/office/drawing/2014/main" id="{0C180FC5-2D33-D751-FCAF-95D3FF62C449}"/>
              </a:ext>
            </a:extLst>
          </p:cNvPr>
          <p:cNvSpPr txBox="1"/>
          <p:nvPr/>
        </p:nvSpPr>
        <p:spPr>
          <a:xfrm>
            <a:off x="665019" y="1581927"/>
            <a:ext cx="10238508" cy="1815882"/>
          </a:xfrm>
          <a:prstGeom prst="rect">
            <a:avLst/>
          </a:prstGeom>
          <a:noFill/>
        </p:spPr>
        <p:txBody>
          <a:bodyPr wrap="square">
            <a:spAutoFit/>
          </a:bodyPr>
          <a:lstStyle/>
          <a:p>
            <a:r>
              <a:rPr lang="en-US" sz="2800" b="0" i="0" dirty="0">
                <a:effectLst/>
                <a:latin typeface="Söhne"/>
              </a:rPr>
              <a:t>A non-stationary time series, on the other hand, exhibits statistical properties that change over time. This could involve trends, seasonality, or other patterns that make it difficult to model and predict accurately</a:t>
            </a:r>
            <a:r>
              <a:rPr lang="en-US" b="0" i="0" dirty="0">
                <a:effectLst/>
                <a:latin typeface="Söhne"/>
              </a:rPr>
              <a:t>.</a:t>
            </a:r>
            <a:endParaRPr lang="en-IN" dirty="0"/>
          </a:p>
        </p:txBody>
      </p:sp>
      <p:graphicFrame>
        <p:nvGraphicFramePr>
          <p:cNvPr id="8" name="Table 7">
            <a:extLst>
              <a:ext uri="{FF2B5EF4-FFF2-40B4-BE49-F238E27FC236}">
                <a16:creationId xmlns:a16="http://schemas.microsoft.com/office/drawing/2014/main" id="{9783561B-392F-DCC6-F14B-416A21038C95}"/>
              </a:ext>
            </a:extLst>
          </p:cNvPr>
          <p:cNvGraphicFramePr>
            <a:graphicFrameLocks noGrp="1"/>
          </p:cNvGraphicFramePr>
          <p:nvPr>
            <p:extLst>
              <p:ext uri="{D42A27DB-BD31-4B8C-83A1-F6EECF244321}">
                <p14:modId xmlns:p14="http://schemas.microsoft.com/office/powerpoint/2010/main" val="3884532113"/>
              </p:ext>
            </p:extLst>
          </p:nvPr>
        </p:nvGraphicFramePr>
        <p:xfrm>
          <a:off x="8118763" y="3898853"/>
          <a:ext cx="2452256" cy="2494280"/>
        </p:xfrm>
        <a:graphic>
          <a:graphicData uri="http://schemas.openxmlformats.org/drawingml/2006/table">
            <a:tbl>
              <a:tblPr firstRow="1" bandRow="1">
                <a:tableStyleId>{5C22544A-7EE6-4342-B048-85BDC9FD1C3A}</a:tableStyleId>
              </a:tblPr>
              <a:tblGrid>
                <a:gridCol w="1226128">
                  <a:extLst>
                    <a:ext uri="{9D8B030D-6E8A-4147-A177-3AD203B41FA5}">
                      <a16:colId xmlns:a16="http://schemas.microsoft.com/office/drawing/2014/main" val="1980200874"/>
                    </a:ext>
                  </a:extLst>
                </a:gridCol>
                <a:gridCol w="1226128">
                  <a:extLst>
                    <a:ext uri="{9D8B030D-6E8A-4147-A177-3AD203B41FA5}">
                      <a16:colId xmlns:a16="http://schemas.microsoft.com/office/drawing/2014/main" val="946917066"/>
                    </a:ext>
                  </a:extLst>
                </a:gridCol>
              </a:tblGrid>
              <a:tr h="370840">
                <a:tc>
                  <a:txBody>
                    <a:bodyPr/>
                    <a:lstStyle/>
                    <a:p>
                      <a:pPr algn="ctr"/>
                      <a:r>
                        <a:rPr lang="en-IN" dirty="0"/>
                        <a:t>Time Period</a:t>
                      </a:r>
                    </a:p>
                  </a:txBody>
                  <a:tcPr/>
                </a:tc>
                <a:tc>
                  <a:txBody>
                    <a:bodyPr/>
                    <a:lstStyle/>
                    <a:p>
                      <a:pPr algn="ctr"/>
                      <a:r>
                        <a:rPr lang="en-IN" dirty="0"/>
                        <a:t>value</a:t>
                      </a:r>
                    </a:p>
                  </a:txBody>
                  <a:tcPr/>
                </a:tc>
                <a:extLst>
                  <a:ext uri="{0D108BD9-81ED-4DB2-BD59-A6C34878D82A}">
                    <a16:rowId xmlns:a16="http://schemas.microsoft.com/office/drawing/2014/main" val="3772705169"/>
                  </a:ext>
                </a:extLst>
              </a:tr>
              <a:tr h="370840">
                <a:tc>
                  <a:txBody>
                    <a:bodyPr/>
                    <a:lstStyle/>
                    <a:p>
                      <a:r>
                        <a:rPr lang="en-IN" dirty="0"/>
                        <a:t>1</a:t>
                      </a:r>
                    </a:p>
                  </a:txBody>
                  <a:tcPr/>
                </a:tc>
                <a:tc>
                  <a:txBody>
                    <a:bodyPr/>
                    <a:lstStyle/>
                    <a:p>
                      <a:r>
                        <a:rPr lang="en-IN" dirty="0"/>
                        <a:t>10</a:t>
                      </a:r>
                    </a:p>
                  </a:txBody>
                  <a:tcPr/>
                </a:tc>
                <a:extLst>
                  <a:ext uri="{0D108BD9-81ED-4DB2-BD59-A6C34878D82A}">
                    <a16:rowId xmlns:a16="http://schemas.microsoft.com/office/drawing/2014/main" val="3202148737"/>
                  </a:ext>
                </a:extLst>
              </a:tr>
              <a:tr h="370840">
                <a:tc>
                  <a:txBody>
                    <a:bodyPr/>
                    <a:lstStyle/>
                    <a:p>
                      <a:r>
                        <a:rPr lang="en-IN" dirty="0"/>
                        <a:t>2</a:t>
                      </a:r>
                    </a:p>
                  </a:txBody>
                  <a:tcPr/>
                </a:tc>
                <a:tc>
                  <a:txBody>
                    <a:bodyPr/>
                    <a:lstStyle/>
                    <a:p>
                      <a:r>
                        <a:rPr lang="en-IN" dirty="0"/>
                        <a:t>15</a:t>
                      </a:r>
                    </a:p>
                  </a:txBody>
                  <a:tcPr/>
                </a:tc>
                <a:extLst>
                  <a:ext uri="{0D108BD9-81ED-4DB2-BD59-A6C34878D82A}">
                    <a16:rowId xmlns:a16="http://schemas.microsoft.com/office/drawing/2014/main" val="3859020430"/>
                  </a:ext>
                </a:extLst>
              </a:tr>
              <a:tr h="370840">
                <a:tc>
                  <a:txBody>
                    <a:bodyPr/>
                    <a:lstStyle/>
                    <a:p>
                      <a:r>
                        <a:rPr lang="en-IN" dirty="0"/>
                        <a:t>3</a:t>
                      </a:r>
                    </a:p>
                  </a:txBody>
                  <a:tcPr/>
                </a:tc>
                <a:tc>
                  <a:txBody>
                    <a:bodyPr/>
                    <a:lstStyle/>
                    <a:p>
                      <a:r>
                        <a:rPr lang="en-IN" dirty="0"/>
                        <a:t>22</a:t>
                      </a:r>
                    </a:p>
                  </a:txBody>
                  <a:tcPr/>
                </a:tc>
                <a:extLst>
                  <a:ext uri="{0D108BD9-81ED-4DB2-BD59-A6C34878D82A}">
                    <a16:rowId xmlns:a16="http://schemas.microsoft.com/office/drawing/2014/main" val="2855943672"/>
                  </a:ext>
                </a:extLst>
              </a:tr>
              <a:tr h="370840">
                <a:tc>
                  <a:txBody>
                    <a:bodyPr/>
                    <a:lstStyle/>
                    <a:p>
                      <a:r>
                        <a:rPr lang="en-IN" dirty="0"/>
                        <a:t>4</a:t>
                      </a:r>
                    </a:p>
                  </a:txBody>
                  <a:tcPr/>
                </a:tc>
                <a:tc>
                  <a:txBody>
                    <a:bodyPr/>
                    <a:lstStyle/>
                    <a:p>
                      <a:r>
                        <a:rPr lang="en-IN" dirty="0"/>
                        <a:t>28</a:t>
                      </a:r>
                    </a:p>
                  </a:txBody>
                  <a:tcPr/>
                </a:tc>
                <a:extLst>
                  <a:ext uri="{0D108BD9-81ED-4DB2-BD59-A6C34878D82A}">
                    <a16:rowId xmlns:a16="http://schemas.microsoft.com/office/drawing/2014/main" val="4002994918"/>
                  </a:ext>
                </a:extLst>
              </a:tr>
              <a:tr h="370840">
                <a:tc>
                  <a:txBody>
                    <a:bodyPr/>
                    <a:lstStyle/>
                    <a:p>
                      <a:r>
                        <a:rPr lang="en-IN" dirty="0"/>
                        <a:t>5</a:t>
                      </a:r>
                    </a:p>
                  </a:txBody>
                  <a:tcPr/>
                </a:tc>
                <a:tc>
                  <a:txBody>
                    <a:bodyPr/>
                    <a:lstStyle/>
                    <a:p>
                      <a:r>
                        <a:rPr lang="en-IN" dirty="0"/>
                        <a:t>35</a:t>
                      </a:r>
                    </a:p>
                  </a:txBody>
                  <a:tcPr/>
                </a:tc>
                <a:extLst>
                  <a:ext uri="{0D108BD9-81ED-4DB2-BD59-A6C34878D82A}">
                    <a16:rowId xmlns:a16="http://schemas.microsoft.com/office/drawing/2014/main" val="4277535617"/>
                  </a:ext>
                </a:extLst>
              </a:tr>
            </a:tbl>
          </a:graphicData>
        </a:graphic>
      </p:graphicFrame>
      <p:sp>
        <p:nvSpPr>
          <p:cNvPr id="9" name="TextBox 8">
            <a:extLst>
              <a:ext uri="{FF2B5EF4-FFF2-40B4-BE49-F238E27FC236}">
                <a16:creationId xmlns:a16="http://schemas.microsoft.com/office/drawing/2014/main" id="{6B77A8B5-B98E-A01C-3C99-DF4A0B289250}"/>
              </a:ext>
            </a:extLst>
          </p:cNvPr>
          <p:cNvSpPr txBox="1"/>
          <p:nvPr/>
        </p:nvSpPr>
        <p:spPr>
          <a:xfrm>
            <a:off x="7259782" y="3397809"/>
            <a:ext cx="4267199" cy="400110"/>
          </a:xfrm>
          <a:prstGeom prst="rect">
            <a:avLst/>
          </a:prstGeom>
          <a:noFill/>
        </p:spPr>
        <p:txBody>
          <a:bodyPr wrap="square">
            <a:spAutoFit/>
          </a:bodyPr>
          <a:lstStyle/>
          <a:p>
            <a:pPr algn="ctr"/>
            <a:r>
              <a:rPr lang="en-IN" sz="2000" b="1" i="1" dirty="0"/>
              <a:t>Example Non-Stationary Time Series</a:t>
            </a:r>
          </a:p>
        </p:txBody>
      </p:sp>
      <p:pic>
        <p:nvPicPr>
          <p:cNvPr id="1026" name="Picture 2">
            <a:extLst>
              <a:ext uri="{FF2B5EF4-FFF2-40B4-BE49-F238E27FC236}">
                <a16:creationId xmlns:a16="http://schemas.microsoft.com/office/drawing/2014/main" id="{E2A94915-E47D-776E-8717-1CC6C7A004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58538" y="3597864"/>
            <a:ext cx="6629400" cy="2638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8102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88E7534-8CC6-DE29-90E7-E39A07BE9D9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933017"/>
            <a:ext cx="11479501" cy="4991966"/>
          </a:xfrm>
          <a:prstGeom prst="rect">
            <a:avLst/>
          </a:prstGeom>
        </p:spPr>
      </p:pic>
    </p:spTree>
    <p:extLst>
      <p:ext uri="{BB962C8B-B14F-4D97-AF65-F5344CB8AC3E}">
        <p14:creationId xmlns:p14="http://schemas.microsoft.com/office/powerpoint/2010/main" val="34076632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D4DF007-2CF3-5953-E188-9DC31CA40DFB}"/>
              </a:ext>
            </a:extLst>
          </p:cNvPr>
          <p:cNvSpPr txBox="1"/>
          <p:nvPr/>
        </p:nvSpPr>
        <p:spPr>
          <a:xfrm>
            <a:off x="568037" y="431862"/>
            <a:ext cx="10723418" cy="707886"/>
          </a:xfrm>
          <a:prstGeom prst="rect">
            <a:avLst/>
          </a:prstGeom>
          <a:solidFill>
            <a:schemeClr val="accent1">
              <a:lumMod val="40000"/>
              <a:lumOff val="60000"/>
            </a:schemeClr>
          </a:solidFill>
        </p:spPr>
        <p:txBody>
          <a:bodyPr wrap="square">
            <a:spAutoFit/>
          </a:bodyPr>
          <a:lstStyle/>
          <a:p>
            <a:pPr algn="ctr"/>
            <a:r>
              <a:rPr lang="en-IN" sz="4000" b="1" i="0" dirty="0">
                <a:solidFill>
                  <a:srgbClr val="242424"/>
                </a:solidFill>
                <a:effectLst/>
                <a:latin typeface="sohne"/>
              </a:rPr>
              <a:t>Seasonal and Non-stationary alerts</a:t>
            </a:r>
          </a:p>
        </p:txBody>
      </p:sp>
      <p:sp>
        <p:nvSpPr>
          <p:cNvPr id="5" name="TextBox 4">
            <a:extLst>
              <a:ext uri="{FF2B5EF4-FFF2-40B4-BE49-F238E27FC236}">
                <a16:creationId xmlns:a16="http://schemas.microsoft.com/office/drawing/2014/main" id="{96AF174E-3587-247E-1703-5B2062A620B5}"/>
              </a:ext>
            </a:extLst>
          </p:cNvPr>
          <p:cNvSpPr txBox="1"/>
          <p:nvPr/>
        </p:nvSpPr>
        <p:spPr>
          <a:xfrm>
            <a:off x="568037" y="1471044"/>
            <a:ext cx="10723418" cy="4031873"/>
          </a:xfrm>
          <a:prstGeom prst="rect">
            <a:avLst/>
          </a:prstGeom>
          <a:noFill/>
        </p:spPr>
        <p:txBody>
          <a:bodyPr wrap="square">
            <a:spAutoFit/>
          </a:bodyPr>
          <a:lstStyle/>
          <a:p>
            <a:r>
              <a:rPr lang="en-US" sz="3200" dirty="0"/>
              <a:t>A time series is said to be stationary when its statistical properties do not change over the time at which the series is observed.</a:t>
            </a:r>
            <a:r>
              <a:rPr lang="en-US" sz="3200" b="0" i="0" dirty="0">
                <a:solidFill>
                  <a:srgbClr val="242424"/>
                </a:solidFill>
                <a:effectLst/>
                <a:latin typeface="source-serif-pro"/>
              </a:rPr>
              <a:t> </a:t>
            </a:r>
          </a:p>
          <a:p>
            <a:r>
              <a:rPr lang="en-US" sz="3200" dirty="0">
                <a:solidFill>
                  <a:srgbClr val="242424"/>
                </a:solidFill>
                <a:latin typeface="source-serif-pro"/>
              </a:rPr>
              <a:t>	</a:t>
            </a:r>
            <a:r>
              <a:rPr lang="en-US" sz="3200" b="0" i="0" dirty="0">
                <a:solidFill>
                  <a:srgbClr val="242424"/>
                </a:solidFill>
                <a:effectLst/>
                <a:latin typeface="source-serif-pro"/>
              </a:rPr>
              <a:t>Conversely, a time series is non-stationary when its statistical properties depend on time</a:t>
            </a:r>
          </a:p>
          <a:p>
            <a:r>
              <a:rPr lang="en-US" sz="3200" dirty="0">
                <a:solidFill>
                  <a:srgbClr val="242424"/>
                </a:solidFill>
                <a:latin typeface="source-serif-pro"/>
              </a:rPr>
              <a:t>	</a:t>
            </a:r>
            <a:r>
              <a:rPr lang="en-US" sz="3200" b="0" i="0" dirty="0">
                <a:solidFill>
                  <a:srgbClr val="242424"/>
                </a:solidFill>
                <a:effectLst/>
                <a:latin typeface="source-serif-pro"/>
              </a:rPr>
              <a:t> time series with trends and seasonality is </a:t>
            </a:r>
            <a:r>
              <a:rPr lang="en-US" sz="3200" b="0" i="0" dirty="0">
                <a:solidFill>
                  <a:srgbClr val="C00000"/>
                </a:solidFill>
                <a:effectLst/>
                <a:latin typeface="source-serif-pro"/>
              </a:rPr>
              <a:t>not stationary </a:t>
            </a:r>
            <a:r>
              <a:rPr lang="en-US" sz="3200" b="0" i="0" dirty="0">
                <a:solidFill>
                  <a:srgbClr val="242424"/>
                </a:solidFill>
                <a:effectLst/>
                <a:latin typeface="source-serif-pro"/>
              </a:rPr>
              <a:t>— </a:t>
            </a:r>
            <a:r>
              <a:rPr lang="en-US" sz="3200" b="0" i="0" dirty="0">
                <a:solidFill>
                  <a:srgbClr val="FF0000"/>
                </a:solidFill>
                <a:effectLst/>
                <a:latin typeface="source-serif-pro"/>
              </a:rPr>
              <a:t>these phenomena can affect the value of the time series at different times</a:t>
            </a:r>
            <a:endParaRPr lang="en-IN" sz="3200" dirty="0">
              <a:solidFill>
                <a:srgbClr val="FF0000"/>
              </a:solidFill>
            </a:endParaRPr>
          </a:p>
        </p:txBody>
      </p:sp>
    </p:spTree>
    <p:extLst>
      <p:ext uri="{BB962C8B-B14F-4D97-AF65-F5344CB8AC3E}">
        <p14:creationId xmlns:p14="http://schemas.microsoft.com/office/powerpoint/2010/main" val="6927486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5CE08EB-C915-E8BA-E6DC-495D46C8BEC8}"/>
              </a:ext>
            </a:extLst>
          </p:cNvPr>
          <p:cNvSpPr txBox="1"/>
          <p:nvPr/>
        </p:nvSpPr>
        <p:spPr>
          <a:xfrm>
            <a:off x="554183" y="528843"/>
            <a:ext cx="10751126" cy="707886"/>
          </a:xfrm>
          <a:prstGeom prst="rect">
            <a:avLst/>
          </a:prstGeom>
          <a:solidFill>
            <a:srgbClr val="9FB6E1"/>
          </a:solidFill>
        </p:spPr>
        <p:txBody>
          <a:bodyPr wrap="square">
            <a:spAutoFit/>
          </a:bodyPr>
          <a:lstStyle/>
          <a:p>
            <a:pPr algn="ctr"/>
            <a:r>
              <a:rPr lang="en-IN" sz="4000" b="1" i="0" dirty="0">
                <a:effectLst/>
                <a:latin typeface="Söhne"/>
              </a:rPr>
              <a:t>Rolling Statistics</a:t>
            </a:r>
          </a:p>
        </p:txBody>
      </p:sp>
      <p:sp>
        <p:nvSpPr>
          <p:cNvPr id="5" name="TextBox 4">
            <a:extLst>
              <a:ext uri="{FF2B5EF4-FFF2-40B4-BE49-F238E27FC236}">
                <a16:creationId xmlns:a16="http://schemas.microsoft.com/office/drawing/2014/main" id="{3DC7AEFA-DF38-F87A-329D-EFC2AF18B2FC}"/>
              </a:ext>
            </a:extLst>
          </p:cNvPr>
          <p:cNvSpPr txBox="1"/>
          <p:nvPr/>
        </p:nvSpPr>
        <p:spPr>
          <a:xfrm>
            <a:off x="554183" y="1609959"/>
            <a:ext cx="10751127" cy="2246769"/>
          </a:xfrm>
          <a:prstGeom prst="rect">
            <a:avLst/>
          </a:prstGeom>
          <a:noFill/>
        </p:spPr>
        <p:txBody>
          <a:bodyPr wrap="square">
            <a:spAutoFit/>
          </a:bodyPr>
          <a:lstStyle/>
          <a:p>
            <a:r>
              <a:rPr lang="en-US" sz="2400" b="0" i="0" dirty="0">
                <a:effectLst/>
                <a:latin typeface="Söhne"/>
              </a:rPr>
              <a:t>	</a:t>
            </a:r>
            <a:r>
              <a:rPr lang="en-US" sz="2800" b="0" i="0" dirty="0">
                <a:effectLst/>
                <a:latin typeface="Söhne"/>
              </a:rPr>
              <a:t>Rolling statistics are a tool often used in time series analysis to assess the stationarity of a time series. </a:t>
            </a:r>
          </a:p>
          <a:p>
            <a:r>
              <a:rPr lang="en-US" sz="2800" dirty="0">
                <a:latin typeface="Söhne"/>
              </a:rPr>
              <a:t>	</a:t>
            </a:r>
            <a:r>
              <a:rPr lang="en-US" sz="2800" b="0" i="0" dirty="0">
                <a:effectLst/>
                <a:latin typeface="Söhne"/>
              </a:rPr>
              <a:t>Stationarity is a crucial assumption for many time series models, and </a:t>
            </a:r>
            <a:r>
              <a:rPr lang="en-US" sz="2800" b="0" i="0" dirty="0">
                <a:solidFill>
                  <a:srgbClr val="FF0000"/>
                </a:solidFill>
                <a:effectLst/>
                <a:latin typeface="Söhne"/>
              </a:rPr>
              <a:t>rolling statistics help in visually and quantitatively identifying </a:t>
            </a:r>
            <a:r>
              <a:rPr lang="en-US" sz="2800" b="0" i="0" dirty="0">
                <a:effectLst/>
                <a:latin typeface="Söhne"/>
              </a:rPr>
              <a:t>trends or seasonality in the </a:t>
            </a:r>
            <a:r>
              <a:rPr lang="en-US" sz="2800" b="0" i="0">
                <a:effectLst/>
                <a:latin typeface="Söhne"/>
              </a:rPr>
              <a:t>data.</a:t>
            </a:r>
          </a:p>
        </p:txBody>
      </p:sp>
      <p:sp>
        <p:nvSpPr>
          <p:cNvPr id="7" name="TextBox 6">
            <a:extLst>
              <a:ext uri="{FF2B5EF4-FFF2-40B4-BE49-F238E27FC236}">
                <a16:creationId xmlns:a16="http://schemas.microsoft.com/office/drawing/2014/main" id="{6C2FE966-2E80-682D-707B-DD94C48487E8}"/>
              </a:ext>
            </a:extLst>
          </p:cNvPr>
          <p:cNvSpPr txBox="1"/>
          <p:nvPr/>
        </p:nvSpPr>
        <p:spPr>
          <a:xfrm>
            <a:off x="554183" y="3856728"/>
            <a:ext cx="10751126" cy="2308324"/>
          </a:xfrm>
          <a:prstGeom prst="rect">
            <a:avLst/>
          </a:prstGeom>
          <a:noFill/>
        </p:spPr>
        <p:txBody>
          <a:bodyPr wrap="square">
            <a:spAutoFit/>
          </a:bodyPr>
          <a:lstStyle/>
          <a:p>
            <a:pPr algn="l"/>
            <a:r>
              <a:rPr lang="en-US" sz="2400" b="1" i="0" dirty="0">
                <a:effectLst/>
                <a:latin typeface="Söhne"/>
              </a:rPr>
              <a:t>Rolling Mean (Moving Average):</a:t>
            </a:r>
            <a:r>
              <a:rPr lang="en-US" sz="2400" b="0" i="0" dirty="0">
                <a:effectLst/>
                <a:latin typeface="Söhne"/>
              </a:rPr>
              <a:t> </a:t>
            </a:r>
          </a:p>
          <a:p>
            <a:pPr algn="l"/>
            <a:r>
              <a:rPr lang="en-US" sz="2400" dirty="0">
                <a:latin typeface="Söhne"/>
              </a:rPr>
              <a:t>	</a:t>
            </a:r>
            <a:r>
              <a:rPr lang="en-US" sz="2400" b="0" i="0" dirty="0">
                <a:effectLst/>
                <a:latin typeface="Söhne"/>
              </a:rPr>
              <a:t>This involves calculating the mean of a certain number of adjacent data points in a time series. </a:t>
            </a:r>
          </a:p>
          <a:p>
            <a:pPr algn="l"/>
            <a:r>
              <a:rPr lang="en-US" sz="2400" b="1" i="0" dirty="0">
                <a:effectLst/>
                <a:latin typeface="Söhne"/>
              </a:rPr>
              <a:t>Rolling Standard Deviation:</a:t>
            </a:r>
            <a:r>
              <a:rPr lang="en-US" sz="2400" b="0" i="0" dirty="0">
                <a:effectLst/>
                <a:latin typeface="Söhne"/>
              </a:rPr>
              <a:t> </a:t>
            </a:r>
          </a:p>
          <a:p>
            <a:pPr algn="l"/>
            <a:r>
              <a:rPr lang="en-US" sz="2400" dirty="0">
                <a:latin typeface="Söhne"/>
              </a:rPr>
              <a:t>	</a:t>
            </a:r>
            <a:r>
              <a:rPr lang="en-US" sz="2400" b="0" i="0" dirty="0">
                <a:effectLst/>
                <a:latin typeface="Söhne"/>
              </a:rPr>
              <a:t>Similar to the rolling mean, this involves calculating the standard deviation over a moving window.</a:t>
            </a:r>
          </a:p>
        </p:txBody>
      </p:sp>
    </p:spTree>
    <p:extLst>
      <p:ext uri="{BB962C8B-B14F-4D97-AF65-F5344CB8AC3E}">
        <p14:creationId xmlns:p14="http://schemas.microsoft.com/office/powerpoint/2010/main" val="36599482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E74BEAE6-036B-FEC8-42BF-3A5C482A9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685800"/>
            <a:ext cx="9573491" cy="53850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779293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49DB63A-20C6-388E-C75C-3A353DF4D73C}"/>
              </a:ext>
            </a:extLst>
          </p:cNvPr>
          <p:cNvGraphicFramePr>
            <a:graphicFrameLocks noGrp="1"/>
          </p:cNvGraphicFramePr>
          <p:nvPr>
            <p:extLst>
              <p:ext uri="{D42A27DB-BD31-4B8C-83A1-F6EECF244321}">
                <p14:modId xmlns:p14="http://schemas.microsoft.com/office/powerpoint/2010/main" val="2765356489"/>
              </p:ext>
            </p:extLst>
          </p:nvPr>
        </p:nvGraphicFramePr>
        <p:xfrm>
          <a:off x="1196109" y="4692226"/>
          <a:ext cx="9799782" cy="1371600"/>
        </p:xfrm>
        <a:graphic>
          <a:graphicData uri="http://schemas.openxmlformats.org/drawingml/2006/table">
            <a:tbl>
              <a:tblPr firstRow="1" bandRow="1">
                <a:tableStyleId>{5C22544A-7EE6-4342-B048-85BDC9FD1C3A}</a:tableStyleId>
              </a:tblPr>
              <a:tblGrid>
                <a:gridCol w="1633297">
                  <a:extLst>
                    <a:ext uri="{9D8B030D-6E8A-4147-A177-3AD203B41FA5}">
                      <a16:colId xmlns:a16="http://schemas.microsoft.com/office/drawing/2014/main" val="3293268170"/>
                    </a:ext>
                  </a:extLst>
                </a:gridCol>
                <a:gridCol w="1633297">
                  <a:extLst>
                    <a:ext uri="{9D8B030D-6E8A-4147-A177-3AD203B41FA5}">
                      <a16:colId xmlns:a16="http://schemas.microsoft.com/office/drawing/2014/main" val="976812372"/>
                    </a:ext>
                  </a:extLst>
                </a:gridCol>
                <a:gridCol w="1633297">
                  <a:extLst>
                    <a:ext uri="{9D8B030D-6E8A-4147-A177-3AD203B41FA5}">
                      <a16:colId xmlns:a16="http://schemas.microsoft.com/office/drawing/2014/main" val="29030100"/>
                    </a:ext>
                  </a:extLst>
                </a:gridCol>
                <a:gridCol w="1633297">
                  <a:extLst>
                    <a:ext uri="{9D8B030D-6E8A-4147-A177-3AD203B41FA5}">
                      <a16:colId xmlns:a16="http://schemas.microsoft.com/office/drawing/2014/main" val="286268261"/>
                    </a:ext>
                  </a:extLst>
                </a:gridCol>
                <a:gridCol w="1633297">
                  <a:extLst>
                    <a:ext uri="{9D8B030D-6E8A-4147-A177-3AD203B41FA5}">
                      <a16:colId xmlns:a16="http://schemas.microsoft.com/office/drawing/2014/main" val="3154919156"/>
                    </a:ext>
                  </a:extLst>
                </a:gridCol>
                <a:gridCol w="1633297">
                  <a:extLst>
                    <a:ext uri="{9D8B030D-6E8A-4147-A177-3AD203B41FA5}">
                      <a16:colId xmlns:a16="http://schemas.microsoft.com/office/drawing/2014/main" val="400719005"/>
                    </a:ext>
                  </a:extLst>
                </a:gridCol>
              </a:tblGrid>
              <a:tr h="340887">
                <a:tc>
                  <a:txBody>
                    <a:bodyPr/>
                    <a:lstStyle/>
                    <a:p>
                      <a:r>
                        <a:rPr lang="en-IN" dirty="0">
                          <a:solidFill>
                            <a:schemeClr val="tx1"/>
                          </a:solidFill>
                        </a:rPr>
                        <a:t>Time</a:t>
                      </a:r>
                    </a:p>
                  </a:txBody>
                  <a:tcPr/>
                </a:tc>
                <a:tc>
                  <a:txBody>
                    <a:bodyPr/>
                    <a:lstStyle/>
                    <a:p>
                      <a:pPr algn="ctr"/>
                      <a:r>
                        <a:rPr lang="en-IN" dirty="0">
                          <a:solidFill>
                            <a:schemeClr val="tx1"/>
                          </a:solidFill>
                        </a:rPr>
                        <a:t>T1</a:t>
                      </a:r>
                    </a:p>
                  </a:txBody>
                  <a:tcPr/>
                </a:tc>
                <a:tc>
                  <a:txBody>
                    <a:bodyPr/>
                    <a:lstStyle/>
                    <a:p>
                      <a:pPr algn="ctr"/>
                      <a:r>
                        <a:rPr lang="en-IN" dirty="0">
                          <a:solidFill>
                            <a:schemeClr val="tx1"/>
                          </a:solidFill>
                        </a:rPr>
                        <a:t>T2</a:t>
                      </a:r>
                    </a:p>
                  </a:txBody>
                  <a:tcPr/>
                </a:tc>
                <a:tc>
                  <a:txBody>
                    <a:bodyPr/>
                    <a:lstStyle/>
                    <a:p>
                      <a:pPr algn="ctr"/>
                      <a:r>
                        <a:rPr lang="en-IN" dirty="0">
                          <a:solidFill>
                            <a:schemeClr val="tx1"/>
                          </a:solidFill>
                        </a:rPr>
                        <a:t>T3</a:t>
                      </a:r>
                    </a:p>
                  </a:txBody>
                  <a:tcPr/>
                </a:tc>
                <a:tc>
                  <a:txBody>
                    <a:bodyPr/>
                    <a:lstStyle/>
                    <a:p>
                      <a:pPr algn="ctr"/>
                      <a:r>
                        <a:rPr lang="en-IN" dirty="0">
                          <a:solidFill>
                            <a:schemeClr val="tx1"/>
                          </a:solidFill>
                        </a:rPr>
                        <a:t>T4</a:t>
                      </a:r>
                    </a:p>
                  </a:txBody>
                  <a:tcPr/>
                </a:tc>
                <a:tc>
                  <a:txBody>
                    <a:bodyPr/>
                    <a:lstStyle/>
                    <a:p>
                      <a:pPr algn="ctr"/>
                      <a:r>
                        <a:rPr lang="en-IN" dirty="0">
                          <a:solidFill>
                            <a:schemeClr val="tx1"/>
                          </a:solidFill>
                        </a:rPr>
                        <a:t>T5</a:t>
                      </a:r>
                    </a:p>
                  </a:txBody>
                  <a:tcPr/>
                </a:tc>
                <a:extLst>
                  <a:ext uri="{0D108BD9-81ED-4DB2-BD59-A6C34878D82A}">
                    <a16:rowId xmlns:a16="http://schemas.microsoft.com/office/drawing/2014/main" val="989102358"/>
                  </a:ext>
                </a:extLst>
              </a:tr>
              <a:tr h="340887">
                <a:tc>
                  <a:txBody>
                    <a:bodyPr/>
                    <a:lstStyle/>
                    <a:p>
                      <a:r>
                        <a:rPr lang="en-IN" dirty="0"/>
                        <a:t>Value</a:t>
                      </a:r>
                    </a:p>
                  </a:txBody>
                  <a:tcPr/>
                </a:tc>
                <a:tc>
                  <a:txBody>
                    <a:bodyPr/>
                    <a:lstStyle/>
                    <a:p>
                      <a:pPr algn="ctr"/>
                      <a:r>
                        <a:rPr lang="en-IN" dirty="0"/>
                        <a:t>300</a:t>
                      </a:r>
                    </a:p>
                  </a:txBody>
                  <a:tcPr/>
                </a:tc>
                <a:tc>
                  <a:txBody>
                    <a:bodyPr/>
                    <a:lstStyle/>
                    <a:p>
                      <a:r>
                        <a:rPr lang="en-IN" dirty="0"/>
                        <a:t>310</a:t>
                      </a:r>
                    </a:p>
                  </a:txBody>
                  <a:tcPr/>
                </a:tc>
                <a:tc>
                  <a:txBody>
                    <a:bodyPr/>
                    <a:lstStyle/>
                    <a:p>
                      <a:r>
                        <a:rPr lang="en-IN" dirty="0"/>
                        <a:t>420</a:t>
                      </a:r>
                    </a:p>
                  </a:txBody>
                  <a:tcPr/>
                </a:tc>
                <a:tc>
                  <a:txBody>
                    <a:bodyPr/>
                    <a:lstStyle/>
                    <a:p>
                      <a:r>
                        <a:rPr lang="en-IN" dirty="0"/>
                        <a:t>530</a:t>
                      </a:r>
                    </a:p>
                  </a:txBody>
                  <a:tcPr/>
                </a:tc>
                <a:tc>
                  <a:txBody>
                    <a:bodyPr/>
                    <a:lstStyle/>
                    <a:p>
                      <a:r>
                        <a:rPr lang="en-IN" dirty="0"/>
                        <a:t> 640</a:t>
                      </a:r>
                    </a:p>
                  </a:txBody>
                  <a:tcPr/>
                </a:tc>
                <a:extLst>
                  <a:ext uri="{0D108BD9-81ED-4DB2-BD59-A6C34878D82A}">
                    <a16:rowId xmlns:a16="http://schemas.microsoft.com/office/drawing/2014/main" val="3874368853"/>
                  </a:ext>
                </a:extLst>
              </a:tr>
              <a:tr h="588380">
                <a:tc>
                  <a:txBody>
                    <a:bodyPr/>
                    <a:lstStyle/>
                    <a:p>
                      <a:r>
                        <a:rPr lang="en-IN" dirty="0"/>
                        <a:t>Moving average</a:t>
                      </a:r>
                    </a:p>
                  </a:txBody>
                  <a:tcPr/>
                </a:tc>
                <a:tc>
                  <a:txBody>
                    <a:bodyPr/>
                    <a:lstStyle/>
                    <a:p>
                      <a:pPr algn="ctr"/>
                      <a:r>
                        <a:rPr lang="en-IN" dirty="0"/>
                        <a:t>--</a:t>
                      </a:r>
                    </a:p>
                  </a:txBody>
                  <a:tcPr/>
                </a:tc>
                <a:tc>
                  <a:txBody>
                    <a:bodyPr/>
                    <a:lstStyle/>
                    <a:p>
                      <a:r>
                        <a:rPr lang="en-IN" dirty="0"/>
                        <a:t>M=(300+310)/2=305</a:t>
                      </a:r>
                    </a:p>
                  </a:txBody>
                  <a:tcPr/>
                </a:tc>
                <a:tc>
                  <a:txBody>
                    <a:bodyPr/>
                    <a:lstStyle/>
                    <a:p>
                      <a:r>
                        <a:rPr lang="en-IN" dirty="0"/>
                        <a:t>M=(310+420)/2=365</a:t>
                      </a:r>
                    </a:p>
                  </a:txBody>
                  <a:tcPr/>
                </a:tc>
                <a:tc>
                  <a:txBody>
                    <a:bodyPr/>
                    <a:lstStyle/>
                    <a:p>
                      <a:r>
                        <a:rPr lang="en-IN" dirty="0"/>
                        <a:t>M=(420+530)/2=475</a:t>
                      </a:r>
                    </a:p>
                  </a:txBody>
                  <a:tcPr/>
                </a:tc>
                <a:tc>
                  <a:txBody>
                    <a:bodyPr/>
                    <a:lstStyle/>
                    <a:p>
                      <a:r>
                        <a:rPr lang="en-IN" dirty="0"/>
                        <a:t>M=(530+640)/2=585</a:t>
                      </a:r>
                    </a:p>
                  </a:txBody>
                  <a:tcPr/>
                </a:tc>
                <a:extLst>
                  <a:ext uri="{0D108BD9-81ED-4DB2-BD59-A6C34878D82A}">
                    <a16:rowId xmlns:a16="http://schemas.microsoft.com/office/drawing/2014/main" val="1645484766"/>
                  </a:ext>
                </a:extLst>
              </a:tr>
            </a:tbl>
          </a:graphicData>
        </a:graphic>
      </p:graphicFrame>
      <p:sp>
        <p:nvSpPr>
          <p:cNvPr id="5" name="TextBox 4">
            <a:extLst>
              <a:ext uri="{FF2B5EF4-FFF2-40B4-BE49-F238E27FC236}">
                <a16:creationId xmlns:a16="http://schemas.microsoft.com/office/drawing/2014/main" id="{7CD0C171-F4DF-FE57-B98C-9E5CD751C0DF}"/>
              </a:ext>
            </a:extLst>
          </p:cNvPr>
          <p:cNvSpPr txBox="1"/>
          <p:nvPr/>
        </p:nvSpPr>
        <p:spPr>
          <a:xfrm>
            <a:off x="969818" y="794174"/>
            <a:ext cx="9518073" cy="3539430"/>
          </a:xfrm>
          <a:prstGeom prst="rect">
            <a:avLst/>
          </a:prstGeom>
          <a:noFill/>
        </p:spPr>
        <p:txBody>
          <a:bodyPr wrap="square">
            <a:spAutoFit/>
          </a:bodyPr>
          <a:lstStyle/>
          <a:p>
            <a:pPr algn="l"/>
            <a:r>
              <a:rPr lang="en-US" sz="2400" b="1" i="0" dirty="0">
                <a:effectLst/>
                <a:latin typeface="Söhne"/>
              </a:rPr>
              <a:t>Procedure:</a:t>
            </a:r>
            <a:endParaRPr lang="en-US" sz="2400" b="0" i="0" dirty="0">
              <a:effectLst/>
              <a:latin typeface="Söhne"/>
            </a:endParaRPr>
          </a:p>
          <a:p>
            <a:pPr algn="l">
              <a:buFont typeface="+mj-lt"/>
              <a:buAutoNum type="arabicPeriod"/>
            </a:pPr>
            <a:r>
              <a:rPr lang="en-US" sz="2000" b="1" i="0" dirty="0">
                <a:effectLst/>
                <a:latin typeface="Söhne"/>
              </a:rPr>
              <a:t>Calculate Rolling Mean:</a:t>
            </a:r>
            <a:endParaRPr lang="en-US" sz="2000" b="0" i="0" dirty="0">
              <a:effectLst/>
              <a:latin typeface="Söhne"/>
            </a:endParaRPr>
          </a:p>
          <a:p>
            <a:pPr marL="742950" lvl="1" indent="-285750" algn="l">
              <a:buFont typeface="+mj-lt"/>
              <a:buAutoNum type="arabicPeriod"/>
            </a:pPr>
            <a:r>
              <a:rPr lang="en-US" sz="2000" b="0" i="0" dirty="0">
                <a:effectLst/>
                <a:latin typeface="Söhne"/>
              </a:rPr>
              <a:t>Choose a window size (e.g., 3 periods).</a:t>
            </a:r>
          </a:p>
          <a:p>
            <a:pPr marL="742950" lvl="1" indent="-285750" algn="l">
              <a:buFont typeface="+mj-lt"/>
              <a:buAutoNum type="arabicPeriod"/>
            </a:pPr>
            <a:r>
              <a:rPr lang="en-US" sz="2000" b="0" i="0" dirty="0">
                <a:effectLst/>
                <a:latin typeface="Söhne"/>
              </a:rPr>
              <a:t>Calculate the mean for the first three values, then move the window and calculate for the next three, and so on.</a:t>
            </a:r>
          </a:p>
          <a:p>
            <a:pPr marL="742950" lvl="1" indent="-285750" algn="l">
              <a:buFont typeface="+mj-lt"/>
              <a:buAutoNum type="arabicPeriod"/>
            </a:pPr>
            <a:r>
              <a:rPr lang="en-US" sz="2000" b="0" i="0" dirty="0">
                <a:effectLst/>
                <a:latin typeface="Söhne"/>
              </a:rPr>
              <a:t>If the rolling mean shows an increasing or decreasing trend, the series is likely non-stationary.</a:t>
            </a:r>
          </a:p>
          <a:p>
            <a:pPr algn="l">
              <a:buFont typeface="+mj-lt"/>
              <a:buAutoNum type="arabicPeriod"/>
            </a:pPr>
            <a:r>
              <a:rPr lang="en-US" sz="2000" b="1" i="0" dirty="0">
                <a:effectLst/>
                <a:latin typeface="Söhne"/>
              </a:rPr>
              <a:t>Calculate Rolling Standard Deviation:</a:t>
            </a:r>
            <a:endParaRPr lang="en-US" sz="2000" b="0" i="0" dirty="0">
              <a:effectLst/>
              <a:latin typeface="Söhne"/>
            </a:endParaRPr>
          </a:p>
          <a:p>
            <a:pPr marL="742950" lvl="1" indent="-285750" algn="l">
              <a:buFont typeface="+mj-lt"/>
              <a:buAutoNum type="arabicPeriod"/>
            </a:pPr>
            <a:r>
              <a:rPr lang="en-US" sz="2000" b="0" i="0" dirty="0">
                <a:effectLst/>
                <a:latin typeface="Söhne"/>
              </a:rPr>
              <a:t>Similar to the rolling mean, calculate the standard deviation over the chosen window.</a:t>
            </a:r>
          </a:p>
          <a:p>
            <a:pPr marL="742950" lvl="1" indent="-285750" algn="l">
              <a:buFont typeface="+mj-lt"/>
              <a:buAutoNum type="arabicPeriod"/>
            </a:pPr>
            <a:r>
              <a:rPr lang="en-US" sz="2000" b="0" i="0" dirty="0">
                <a:effectLst/>
                <a:latin typeface="Söhne"/>
              </a:rPr>
              <a:t>A changing pattern in the rolling standard deviation indicates non-stationarity.</a:t>
            </a:r>
          </a:p>
        </p:txBody>
      </p:sp>
    </p:spTree>
    <p:extLst>
      <p:ext uri="{BB962C8B-B14F-4D97-AF65-F5344CB8AC3E}">
        <p14:creationId xmlns:p14="http://schemas.microsoft.com/office/powerpoint/2010/main" val="21150989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7709D9-1987-948F-A401-18C60598BC42}"/>
              </a:ext>
            </a:extLst>
          </p:cNvPr>
          <p:cNvSpPr txBox="1"/>
          <p:nvPr/>
        </p:nvSpPr>
        <p:spPr>
          <a:xfrm>
            <a:off x="554183" y="390298"/>
            <a:ext cx="11097490" cy="707886"/>
          </a:xfrm>
          <a:prstGeom prst="rect">
            <a:avLst/>
          </a:prstGeom>
          <a:solidFill>
            <a:srgbClr val="9FB6E1"/>
          </a:solidFill>
        </p:spPr>
        <p:txBody>
          <a:bodyPr wrap="square">
            <a:spAutoFit/>
          </a:bodyPr>
          <a:lstStyle/>
          <a:p>
            <a:pPr algn="ctr"/>
            <a:r>
              <a:rPr lang="en-IN" sz="4000" b="0" dirty="0">
                <a:effectLst/>
                <a:latin typeface="Consolas" panose="020B0609020204030204" pitchFamily="49" charset="0"/>
              </a:rPr>
              <a:t>E</a:t>
            </a:r>
            <a:r>
              <a:rPr lang="en-IN" sz="4000" b="1" dirty="0">
                <a:effectLst/>
                <a:latin typeface="Consolas" panose="020B0609020204030204" pitchFamily="49" charset="0"/>
              </a:rPr>
              <a:t>xponential Smoothing</a:t>
            </a:r>
          </a:p>
        </p:txBody>
      </p:sp>
      <p:sp>
        <p:nvSpPr>
          <p:cNvPr id="5" name="TextBox 4">
            <a:extLst>
              <a:ext uri="{FF2B5EF4-FFF2-40B4-BE49-F238E27FC236}">
                <a16:creationId xmlns:a16="http://schemas.microsoft.com/office/drawing/2014/main" id="{DE844C40-B318-8230-E59B-0AA7F7575EA8}"/>
              </a:ext>
            </a:extLst>
          </p:cNvPr>
          <p:cNvSpPr txBox="1"/>
          <p:nvPr/>
        </p:nvSpPr>
        <p:spPr>
          <a:xfrm>
            <a:off x="554184" y="1484945"/>
            <a:ext cx="11097489" cy="2062103"/>
          </a:xfrm>
          <a:prstGeom prst="rect">
            <a:avLst/>
          </a:prstGeom>
          <a:noFill/>
        </p:spPr>
        <p:txBody>
          <a:bodyPr wrap="square">
            <a:spAutoFit/>
          </a:bodyPr>
          <a:lstStyle/>
          <a:p>
            <a:r>
              <a:rPr lang="en-US" sz="2400" b="0" i="0" dirty="0">
                <a:effectLst/>
                <a:latin typeface="Söhne"/>
              </a:rPr>
              <a:t>Exponential smoothing is a time series forecasting method for univariate data that can be used to predict future data points by giving more weight to recent observations while gradually decreasing the weight of older observations.</a:t>
            </a:r>
            <a:endParaRPr lang="en-US" sz="2400" dirty="0">
              <a:latin typeface="Söhne"/>
            </a:endParaRPr>
          </a:p>
          <a:p>
            <a:endParaRPr lang="en-US" sz="3200" dirty="0">
              <a:latin typeface="Söhne"/>
            </a:endParaRPr>
          </a:p>
          <a:p>
            <a:r>
              <a:rPr lang="en-US" sz="2400" b="1" i="0" dirty="0">
                <a:effectLst/>
                <a:latin typeface="Söhne"/>
              </a:rPr>
              <a:t>The formula for simple exponential smoothing :</a:t>
            </a:r>
          </a:p>
        </p:txBody>
      </p:sp>
      <p:pic>
        <p:nvPicPr>
          <p:cNvPr id="13" name="Picture 12">
            <a:extLst>
              <a:ext uri="{FF2B5EF4-FFF2-40B4-BE49-F238E27FC236}">
                <a16:creationId xmlns:a16="http://schemas.microsoft.com/office/drawing/2014/main" id="{9D764E58-5769-B75B-264A-BA9B47718B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451" y="3429000"/>
            <a:ext cx="6040149" cy="2793484"/>
          </a:xfrm>
          <a:prstGeom prst="rect">
            <a:avLst/>
          </a:prstGeom>
        </p:spPr>
      </p:pic>
    </p:spTree>
    <p:extLst>
      <p:ext uri="{BB962C8B-B14F-4D97-AF65-F5344CB8AC3E}">
        <p14:creationId xmlns:p14="http://schemas.microsoft.com/office/powerpoint/2010/main" val="1020274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6170818A-AE85-BAFC-6546-CFECBC2D8B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3818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73EB89F-550B-F485-815F-938530B5E52D}"/>
              </a:ext>
            </a:extLst>
          </p:cNvPr>
          <p:cNvGraphicFramePr>
            <a:graphicFrameLocks noGrp="1"/>
          </p:cNvGraphicFramePr>
          <p:nvPr>
            <p:extLst>
              <p:ext uri="{D42A27DB-BD31-4B8C-83A1-F6EECF244321}">
                <p14:modId xmlns:p14="http://schemas.microsoft.com/office/powerpoint/2010/main" val="4271011735"/>
              </p:ext>
            </p:extLst>
          </p:nvPr>
        </p:nvGraphicFramePr>
        <p:xfrm>
          <a:off x="908929" y="1894526"/>
          <a:ext cx="2666610" cy="4197879"/>
        </p:xfrm>
        <a:graphic>
          <a:graphicData uri="http://schemas.openxmlformats.org/drawingml/2006/table">
            <a:tbl>
              <a:tblPr firstRow="1" bandRow="1">
                <a:tableStyleId>{5C22544A-7EE6-4342-B048-85BDC9FD1C3A}</a:tableStyleId>
              </a:tblPr>
              <a:tblGrid>
                <a:gridCol w="1333305">
                  <a:extLst>
                    <a:ext uri="{9D8B030D-6E8A-4147-A177-3AD203B41FA5}">
                      <a16:colId xmlns:a16="http://schemas.microsoft.com/office/drawing/2014/main" val="1388264126"/>
                    </a:ext>
                  </a:extLst>
                </a:gridCol>
                <a:gridCol w="1333305">
                  <a:extLst>
                    <a:ext uri="{9D8B030D-6E8A-4147-A177-3AD203B41FA5}">
                      <a16:colId xmlns:a16="http://schemas.microsoft.com/office/drawing/2014/main" val="3579647771"/>
                    </a:ext>
                  </a:extLst>
                </a:gridCol>
              </a:tblGrid>
              <a:tr h="606236">
                <a:tc>
                  <a:txBody>
                    <a:bodyPr/>
                    <a:lstStyle/>
                    <a:p>
                      <a:pPr algn="ctr"/>
                      <a:r>
                        <a:rPr lang="en-IN" dirty="0">
                          <a:solidFill>
                            <a:schemeClr val="tx1"/>
                          </a:solidFill>
                        </a:rPr>
                        <a:t>Year of experience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dirty="0">
                          <a:solidFill>
                            <a:schemeClr val="tx1"/>
                          </a:solidFill>
                        </a:rPr>
                        <a:t>Salary </a:t>
                      </a:r>
                    </a:p>
                    <a:p>
                      <a:endParaRPr lang="en-IN" dirty="0"/>
                    </a:p>
                  </a:txBody>
                  <a:tcPr/>
                </a:tc>
                <a:extLst>
                  <a:ext uri="{0D108BD9-81ED-4DB2-BD59-A6C34878D82A}">
                    <a16:rowId xmlns:a16="http://schemas.microsoft.com/office/drawing/2014/main" val="2347118892"/>
                  </a:ext>
                </a:extLst>
              </a:tr>
              <a:tr h="508257">
                <a:tc>
                  <a:txBody>
                    <a:bodyPr/>
                    <a:lstStyle/>
                    <a:p>
                      <a:pPr algn="ctr"/>
                      <a:r>
                        <a:rPr lang="en-IN" dirty="0"/>
                        <a:t>2</a:t>
                      </a:r>
                    </a:p>
                  </a:txBody>
                  <a:tcPr/>
                </a:tc>
                <a:tc>
                  <a:txBody>
                    <a:bodyPr/>
                    <a:lstStyle/>
                    <a:p>
                      <a:pPr algn="ctr"/>
                      <a:r>
                        <a:rPr lang="en-IN" dirty="0"/>
                        <a:t>25000</a:t>
                      </a:r>
                    </a:p>
                  </a:txBody>
                  <a:tcPr/>
                </a:tc>
                <a:extLst>
                  <a:ext uri="{0D108BD9-81ED-4DB2-BD59-A6C34878D82A}">
                    <a16:rowId xmlns:a16="http://schemas.microsoft.com/office/drawing/2014/main" val="3934925147"/>
                  </a:ext>
                </a:extLst>
              </a:tr>
              <a:tr h="508257">
                <a:tc>
                  <a:txBody>
                    <a:bodyPr/>
                    <a:lstStyle/>
                    <a:p>
                      <a:pPr algn="ctr"/>
                      <a:r>
                        <a:rPr lang="en-IN" dirty="0"/>
                        <a:t>3</a:t>
                      </a:r>
                    </a:p>
                  </a:txBody>
                  <a:tcPr/>
                </a:tc>
                <a:tc>
                  <a:txBody>
                    <a:bodyPr/>
                    <a:lstStyle/>
                    <a:p>
                      <a:pPr algn="ctr"/>
                      <a:r>
                        <a:rPr lang="en-IN" dirty="0"/>
                        <a:t>28000</a:t>
                      </a:r>
                    </a:p>
                  </a:txBody>
                  <a:tcPr/>
                </a:tc>
                <a:extLst>
                  <a:ext uri="{0D108BD9-81ED-4DB2-BD59-A6C34878D82A}">
                    <a16:rowId xmlns:a16="http://schemas.microsoft.com/office/drawing/2014/main" val="2771661700"/>
                  </a:ext>
                </a:extLst>
              </a:tr>
              <a:tr h="508257">
                <a:tc>
                  <a:txBody>
                    <a:bodyPr/>
                    <a:lstStyle/>
                    <a:p>
                      <a:pPr algn="ctr"/>
                      <a:r>
                        <a:rPr lang="en-IN" dirty="0"/>
                        <a:t>5</a:t>
                      </a:r>
                    </a:p>
                  </a:txBody>
                  <a:tcPr/>
                </a:tc>
                <a:tc>
                  <a:txBody>
                    <a:bodyPr/>
                    <a:lstStyle/>
                    <a:p>
                      <a:pPr algn="ctr"/>
                      <a:r>
                        <a:rPr lang="en-IN" dirty="0"/>
                        <a:t>30000</a:t>
                      </a:r>
                    </a:p>
                  </a:txBody>
                  <a:tcPr/>
                </a:tc>
                <a:extLst>
                  <a:ext uri="{0D108BD9-81ED-4DB2-BD59-A6C34878D82A}">
                    <a16:rowId xmlns:a16="http://schemas.microsoft.com/office/drawing/2014/main" val="3479485053"/>
                  </a:ext>
                </a:extLst>
              </a:tr>
              <a:tr h="508257">
                <a:tc>
                  <a:txBody>
                    <a:bodyPr/>
                    <a:lstStyle/>
                    <a:p>
                      <a:pPr algn="ctr"/>
                      <a:r>
                        <a:rPr lang="en-IN" dirty="0"/>
                        <a:t>6</a:t>
                      </a:r>
                    </a:p>
                  </a:txBody>
                  <a:tcPr/>
                </a:tc>
                <a:tc>
                  <a:txBody>
                    <a:bodyPr/>
                    <a:lstStyle/>
                    <a:p>
                      <a:pPr algn="ctr"/>
                      <a:r>
                        <a:rPr lang="en-IN" dirty="0"/>
                        <a:t>32000</a:t>
                      </a:r>
                    </a:p>
                  </a:txBody>
                  <a:tcPr/>
                </a:tc>
                <a:extLst>
                  <a:ext uri="{0D108BD9-81ED-4DB2-BD59-A6C34878D82A}">
                    <a16:rowId xmlns:a16="http://schemas.microsoft.com/office/drawing/2014/main" val="2212808451"/>
                  </a:ext>
                </a:extLst>
              </a:tr>
              <a:tr h="508257">
                <a:tc>
                  <a:txBody>
                    <a:bodyPr/>
                    <a:lstStyle/>
                    <a:p>
                      <a:pPr algn="ctr"/>
                      <a:r>
                        <a:rPr lang="en-IN" dirty="0"/>
                        <a:t>8</a:t>
                      </a:r>
                    </a:p>
                  </a:txBody>
                  <a:tcPr/>
                </a:tc>
                <a:tc>
                  <a:txBody>
                    <a:bodyPr/>
                    <a:lstStyle/>
                    <a:p>
                      <a:pPr algn="ctr"/>
                      <a:r>
                        <a:rPr lang="en-IN" dirty="0"/>
                        <a:t>35000</a:t>
                      </a:r>
                    </a:p>
                  </a:txBody>
                  <a:tcPr/>
                </a:tc>
                <a:extLst>
                  <a:ext uri="{0D108BD9-81ED-4DB2-BD59-A6C34878D82A}">
                    <a16:rowId xmlns:a16="http://schemas.microsoft.com/office/drawing/2014/main" val="1018413849"/>
                  </a:ext>
                </a:extLst>
              </a:tr>
              <a:tr h="508257">
                <a:tc>
                  <a:txBody>
                    <a:bodyPr/>
                    <a:lstStyle/>
                    <a:p>
                      <a:pPr algn="ctr"/>
                      <a:r>
                        <a:rPr lang="en-IN" dirty="0"/>
                        <a:t>9</a:t>
                      </a:r>
                    </a:p>
                  </a:txBody>
                  <a:tcPr/>
                </a:tc>
                <a:tc>
                  <a:txBody>
                    <a:bodyPr/>
                    <a:lstStyle/>
                    <a:p>
                      <a:pPr algn="ctr"/>
                      <a:r>
                        <a:rPr lang="en-IN" dirty="0"/>
                        <a:t>38000</a:t>
                      </a:r>
                    </a:p>
                  </a:txBody>
                  <a:tcPr/>
                </a:tc>
                <a:extLst>
                  <a:ext uri="{0D108BD9-81ED-4DB2-BD59-A6C34878D82A}">
                    <a16:rowId xmlns:a16="http://schemas.microsoft.com/office/drawing/2014/main" val="2582416249"/>
                  </a:ext>
                </a:extLst>
              </a:tr>
              <a:tr h="508257">
                <a:tc>
                  <a:txBody>
                    <a:bodyPr/>
                    <a:lstStyle/>
                    <a:p>
                      <a:pPr algn="ctr"/>
                      <a:r>
                        <a:rPr lang="en-IN" dirty="0"/>
                        <a:t>12</a:t>
                      </a:r>
                    </a:p>
                  </a:txBody>
                  <a:tcPr/>
                </a:tc>
                <a:tc>
                  <a:txBody>
                    <a:bodyPr/>
                    <a:lstStyle/>
                    <a:p>
                      <a:pPr algn="ctr"/>
                      <a:r>
                        <a:rPr lang="en-IN" dirty="0"/>
                        <a:t>?</a:t>
                      </a:r>
                    </a:p>
                  </a:txBody>
                  <a:tcPr/>
                </a:tc>
                <a:extLst>
                  <a:ext uri="{0D108BD9-81ED-4DB2-BD59-A6C34878D82A}">
                    <a16:rowId xmlns:a16="http://schemas.microsoft.com/office/drawing/2014/main" val="1779597948"/>
                  </a:ext>
                </a:extLst>
              </a:tr>
            </a:tbl>
          </a:graphicData>
        </a:graphic>
      </p:graphicFrame>
      <p:sp>
        <p:nvSpPr>
          <p:cNvPr id="8" name="Arrow: Right 7">
            <a:extLst>
              <a:ext uri="{FF2B5EF4-FFF2-40B4-BE49-F238E27FC236}">
                <a16:creationId xmlns:a16="http://schemas.microsoft.com/office/drawing/2014/main" id="{A4D59189-73C9-0E81-8CDD-1C7668D31FC2}"/>
              </a:ext>
            </a:extLst>
          </p:cNvPr>
          <p:cNvSpPr/>
          <p:nvPr/>
        </p:nvSpPr>
        <p:spPr>
          <a:xfrm>
            <a:off x="3952288" y="2530424"/>
            <a:ext cx="1050387" cy="4466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9" name="Table 8">
            <a:extLst>
              <a:ext uri="{FF2B5EF4-FFF2-40B4-BE49-F238E27FC236}">
                <a16:creationId xmlns:a16="http://schemas.microsoft.com/office/drawing/2014/main" id="{A29EEC6F-E5DD-A203-EB8E-D8DF9CEA25E0}"/>
              </a:ext>
            </a:extLst>
          </p:cNvPr>
          <p:cNvGraphicFramePr>
            <a:graphicFrameLocks noGrp="1"/>
          </p:cNvGraphicFramePr>
          <p:nvPr>
            <p:extLst>
              <p:ext uri="{D42A27DB-BD31-4B8C-83A1-F6EECF244321}">
                <p14:modId xmlns:p14="http://schemas.microsoft.com/office/powerpoint/2010/main" val="4127724424"/>
              </p:ext>
            </p:extLst>
          </p:nvPr>
        </p:nvGraphicFramePr>
        <p:xfrm>
          <a:off x="5377079" y="1894526"/>
          <a:ext cx="6478767" cy="731520"/>
        </p:xfrm>
        <a:graphic>
          <a:graphicData uri="http://schemas.openxmlformats.org/drawingml/2006/table">
            <a:tbl>
              <a:tblPr firstRow="1" bandRow="1">
                <a:tableStyleId>{5C22544A-7EE6-4342-B048-85BDC9FD1C3A}</a:tableStyleId>
              </a:tblPr>
              <a:tblGrid>
                <a:gridCol w="1268095">
                  <a:extLst>
                    <a:ext uri="{9D8B030D-6E8A-4147-A177-3AD203B41FA5}">
                      <a16:colId xmlns:a16="http://schemas.microsoft.com/office/drawing/2014/main" val="1791793252"/>
                    </a:ext>
                  </a:extLst>
                </a:gridCol>
                <a:gridCol w="1302668">
                  <a:extLst>
                    <a:ext uri="{9D8B030D-6E8A-4147-A177-3AD203B41FA5}">
                      <a16:colId xmlns:a16="http://schemas.microsoft.com/office/drawing/2014/main" val="2162468970"/>
                    </a:ext>
                  </a:extLst>
                </a:gridCol>
                <a:gridCol w="1302668">
                  <a:extLst>
                    <a:ext uri="{9D8B030D-6E8A-4147-A177-3AD203B41FA5}">
                      <a16:colId xmlns:a16="http://schemas.microsoft.com/office/drawing/2014/main" val="3733140649"/>
                    </a:ext>
                  </a:extLst>
                </a:gridCol>
                <a:gridCol w="1302668">
                  <a:extLst>
                    <a:ext uri="{9D8B030D-6E8A-4147-A177-3AD203B41FA5}">
                      <a16:colId xmlns:a16="http://schemas.microsoft.com/office/drawing/2014/main" val="1544172637"/>
                    </a:ext>
                  </a:extLst>
                </a:gridCol>
                <a:gridCol w="1302668">
                  <a:extLst>
                    <a:ext uri="{9D8B030D-6E8A-4147-A177-3AD203B41FA5}">
                      <a16:colId xmlns:a16="http://schemas.microsoft.com/office/drawing/2014/main" val="3263316797"/>
                    </a:ext>
                  </a:extLst>
                </a:gridCol>
              </a:tblGrid>
              <a:tr h="348168">
                <a:tc>
                  <a:txBody>
                    <a:bodyPr/>
                    <a:lstStyle/>
                    <a:p>
                      <a:r>
                        <a:rPr lang="en-IN" dirty="0">
                          <a:solidFill>
                            <a:schemeClr val="tx1">
                              <a:lumMod val="95000"/>
                              <a:lumOff val="5000"/>
                            </a:schemeClr>
                          </a:solidFill>
                        </a:rPr>
                        <a:t>Time</a:t>
                      </a:r>
                    </a:p>
                  </a:txBody>
                  <a:tcPr/>
                </a:tc>
                <a:tc>
                  <a:txBody>
                    <a:bodyPr/>
                    <a:lstStyle/>
                    <a:p>
                      <a:r>
                        <a:rPr lang="en-IN" dirty="0">
                          <a:solidFill>
                            <a:schemeClr val="tx1"/>
                          </a:solidFill>
                        </a:rPr>
                        <a:t>00.00 am</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lumMod val="95000"/>
                              <a:lumOff val="5000"/>
                            </a:prstClr>
                          </a:solidFill>
                          <a:effectLst/>
                          <a:uLnTx/>
                          <a:uFillTx/>
                          <a:latin typeface="+mn-lt"/>
                          <a:ea typeface="+mn-ea"/>
                          <a:cs typeface="+mn-cs"/>
                        </a:rPr>
                        <a:t>3.00 am</a:t>
                      </a:r>
                    </a:p>
                  </a:txBody>
                  <a:tcPr/>
                </a:tc>
                <a:tc>
                  <a:txBody>
                    <a:bodyPr/>
                    <a:lstStyle/>
                    <a:p>
                      <a:r>
                        <a:rPr lang="en-IN" dirty="0">
                          <a:solidFill>
                            <a:schemeClr val="tx1"/>
                          </a:solidFill>
                        </a:rPr>
                        <a:t>6.00 am</a:t>
                      </a:r>
                    </a:p>
                  </a:txBody>
                  <a:tcPr/>
                </a:tc>
                <a:tc>
                  <a:txBody>
                    <a:bodyPr/>
                    <a:lstStyle/>
                    <a:p>
                      <a:r>
                        <a:rPr lang="en-IN" dirty="0">
                          <a:solidFill>
                            <a:schemeClr val="tx1"/>
                          </a:solidFill>
                        </a:rPr>
                        <a:t>9.00 am</a:t>
                      </a:r>
                    </a:p>
                  </a:txBody>
                  <a:tcPr/>
                </a:tc>
                <a:extLst>
                  <a:ext uri="{0D108BD9-81ED-4DB2-BD59-A6C34878D82A}">
                    <a16:rowId xmlns:a16="http://schemas.microsoft.com/office/drawing/2014/main" val="2568584302"/>
                  </a:ext>
                </a:extLst>
              </a:tr>
              <a:tr h="353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b="1" dirty="0">
                          <a:solidFill>
                            <a:schemeClr val="tx1">
                              <a:lumMod val="95000"/>
                              <a:lumOff val="5000"/>
                            </a:schemeClr>
                          </a:solidFill>
                        </a:rPr>
                        <a:t>Stock price</a:t>
                      </a:r>
                    </a:p>
                  </a:txBody>
                  <a:tcPr/>
                </a:tc>
                <a:tc>
                  <a:txBody>
                    <a:bodyPr/>
                    <a:lstStyle/>
                    <a:p>
                      <a:pPr algn="ctr"/>
                      <a:r>
                        <a:rPr lang="en-IN" dirty="0"/>
                        <a:t>123</a:t>
                      </a:r>
                    </a:p>
                  </a:txBody>
                  <a:tcPr/>
                </a:tc>
                <a:tc>
                  <a:txBody>
                    <a:bodyPr/>
                    <a:lstStyle/>
                    <a:p>
                      <a:pPr algn="ctr"/>
                      <a:r>
                        <a:rPr lang="en-IN" dirty="0"/>
                        <a:t>230</a:t>
                      </a:r>
                    </a:p>
                  </a:txBody>
                  <a:tcPr/>
                </a:tc>
                <a:tc>
                  <a:txBody>
                    <a:bodyPr/>
                    <a:lstStyle/>
                    <a:p>
                      <a:pPr algn="ctr"/>
                      <a:r>
                        <a:rPr lang="en-IN" dirty="0"/>
                        <a:t>201</a:t>
                      </a:r>
                    </a:p>
                  </a:txBody>
                  <a:tcPr/>
                </a:tc>
                <a:tc>
                  <a:txBody>
                    <a:bodyPr/>
                    <a:lstStyle/>
                    <a:p>
                      <a:pPr algn="ctr"/>
                      <a:r>
                        <a:rPr lang="en-IN" dirty="0"/>
                        <a:t>?</a:t>
                      </a:r>
                    </a:p>
                  </a:txBody>
                  <a:tcPr/>
                </a:tc>
                <a:extLst>
                  <a:ext uri="{0D108BD9-81ED-4DB2-BD59-A6C34878D82A}">
                    <a16:rowId xmlns:a16="http://schemas.microsoft.com/office/drawing/2014/main" val="4167107290"/>
                  </a:ext>
                </a:extLst>
              </a:tr>
            </a:tbl>
          </a:graphicData>
        </a:graphic>
      </p:graphicFrame>
      <p:sp>
        <p:nvSpPr>
          <p:cNvPr id="11" name="TextBox 10">
            <a:extLst>
              <a:ext uri="{FF2B5EF4-FFF2-40B4-BE49-F238E27FC236}">
                <a16:creationId xmlns:a16="http://schemas.microsoft.com/office/drawing/2014/main" id="{43F1DB40-DA04-0EDB-0150-271C61745C9B}"/>
              </a:ext>
            </a:extLst>
          </p:cNvPr>
          <p:cNvSpPr txBox="1"/>
          <p:nvPr/>
        </p:nvSpPr>
        <p:spPr>
          <a:xfrm>
            <a:off x="617072" y="1341679"/>
            <a:ext cx="4385603" cy="400110"/>
          </a:xfrm>
          <a:prstGeom prst="rect">
            <a:avLst/>
          </a:prstGeom>
          <a:noFill/>
        </p:spPr>
        <p:txBody>
          <a:bodyPr wrap="square">
            <a:spAutoFit/>
          </a:bodyPr>
          <a:lstStyle/>
          <a:p>
            <a:r>
              <a:rPr lang="en-IN" sz="2000" b="1" dirty="0"/>
              <a:t>Independent and dependent variables </a:t>
            </a:r>
          </a:p>
        </p:txBody>
      </p:sp>
      <p:sp>
        <p:nvSpPr>
          <p:cNvPr id="13" name="TextBox 12">
            <a:extLst>
              <a:ext uri="{FF2B5EF4-FFF2-40B4-BE49-F238E27FC236}">
                <a16:creationId xmlns:a16="http://schemas.microsoft.com/office/drawing/2014/main" id="{449D0C54-FFA3-505D-9906-856B03F3E4C7}"/>
              </a:ext>
            </a:extLst>
          </p:cNvPr>
          <p:cNvSpPr txBox="1"/>
          <p:nvPr/>
        </p:nvSpPr>
        <p:spPr>
          <a:xfrm>
            <a:off x="7338649" y="1341679"/>
            <a:ext cx="3394704" cy="400110"/>
          </a:xfrm>
          <a:prstGeom prst="rect">
            <a:avLst/>
          </a:prstGeom>
          <a:noFill/>
        </p:spPr>
        <p:txBody>
          <a:bodyPr wrap="square">
            <a:spAutoFit/>
          </a:bodyPr>
          <a:lstStyle/>
          <a:p>
            <a:r>
              <a:rPr lang="en-IN" sz="2000" b="1" kern="100" spc="5" dirty="0">
                <a:solidFill>
                  <a:srgbClr val="111111"/>
                </a:solidFill>
                <a:effectLst/>
                <a:latin typeface="Arial" panose="020B0604020202020204" pitchFamily="34" charset="0"/>
                <a:ea typeface="Calibri" panose="020F0502020204030204" pitchFamily="34" charset="0"/>
                <a:cs typeface="Times New Roman" panose="02020603050405020304" pitchFamily="18" charset="0"/>
              </a:rPr>
              <a:t>time series dataset</a:t>
            </a:r>
            <a:endParaRPr lang="en-IN" sz="2000" b="1" dirty="0"/>
          </a:p>
        </p:txBody>
      </p:sp>
      <p:sp>
        <p:nvSpPr>
          <p:cNvPr id="20" name="Arrow: Down 19">
            <a:extLst>
              <a:ext uri="{FF2B5EF4-FFF2-40B4-BE49-F238E27FC236}">
                <a16:creationId xmlns:a16="http://schemas.microsoft.com/office/drawing/2014/main" id="{27FEA776-0D8E-59D6-B8C1-B419A95456E5}"/>
              </a:ext>
            </a:extLst>
          </p:cNvPr>
          <p:cNvSpPr/>
          <p:nvPr/>
        </p:nvSpPr>
        <p:spPr>
          <a:xfrm>
            <a:off x="8694569" y="2855742"/>
            <a:ext cx="105509" cy="5732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Arrow: Down 20">
            <a:extLst>
              <a:ext uri="{FF2B5EF4-FFF2-40B4-BE49-F238E27FC236}">
                <a16:creationId xmlns:a16="http://schemas.microsoft.com/office/drawing/2014/main" id="{230AB7C2-870C-11EF-A755-8BCF9A5D8719}"/>
              </a:ext>
            </a:extLst>
          </p:cNvPr>
          <p:cNvSpPr/>
          <p:nvPr/>
        </p:nvSpPr>
        <p:spPr>
          <a:xfrm>
            <a:off x="9706708" y="2855742"/>
            <a:ext cx="105509" cy="573258"/>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TextBox 23">
            <a:extLst>
              <a:ext uri="{FF2B5EF4-FFF2-40B4-BE49-F238E27FC236}">
                <a16:creationId xmlns:a16="http://schemas.microsoft.com/office/drawing/2014/main" id="{86F7D18F-36EB-0257-5F92-D646A65742D0}"/>
              </a:ext>
            </a:extLst>
          </p:cNvPr>
          <p:cNvSpPr txBox="1"/>
          <p:nvPr/>
        </p:nvSpPr>
        <p:spPr>
          <a:xfrm>
            <a:off x="9578817" y="3624133"/>
            <a:ext cx="1016612" cy="369332"/>
          </a:xfrm>
          <a:prstGeom prst="rect">
            <a:avLst/>
          </a:prstGeom>
          <a:noFill/>
        </p:spPr>
        <p:txBody>
          <a:bodyPr wrap="square">
            <a:spAutoFit/>
          </a:bodyPr>
          <a:lstStyle/>
          <a:p>
            <a:r>
              <a:rPr lang="en-IN" b="1" i="0" dirty="0">
                <a:solidFill>
                  <a:srgbClr val="333333"/>
                </a:solidFill>
                <a:effectLst/>
                <a:latin typeface="Salesforce Sans"/>
              </a:rPr>
              <a:t>80%.</a:t>
            </a:r>
            <a:endParaRPr lang="en-IN" b="1" dirty="0"/>
          </a:p>
        </p:txBody>
      </p:sp>
      <p:sp>
        <p:nvSpPr>
          <p:cNvPr id="29" name="TextBox 28">
            <a:extLst>
              <a:ext uri="{FF2B5EF4-FFF2-40B4-BE49-F238E27FC236}">
                <a16:creationId xmlns:a16="http://schemas.microsoft.com/office/drawing/2014/main" id="{9B095220-D65F-E036-DFA9-D7A2AD648E49}"/>
              </a:ext>
            </a:extLst>
          </p:cNvPr>
          <p:cNvSpPr txBox="1"/>
          <p:nvPr/>
        </p:nvSpPr>
        <p:spPr>
          <a:xfrm>
            <a:off x="8577340" y="3658696"/>
            <a:ext cx="870909" cy="369332"/>
          </a:xfrm>
          <a:prstGeom prst="rect">
            <a:avLst/>
          </a:prstGeom>
          <a:noFill/>
        </p:spPr>
        <p:txBody>
          <a:bodyPr wrap="square">
            <a:spAutoFit/>
          </a:bodyPr>
          <a:lstStyle/>
          <a:p>
            <a:r>
              <a:rPr lang="en-IN" b="1" dirty="0">
                <a:solidFill>
                  <a:srgbClr val="333333"/>
                </a:solidFill>
                <a:latin typeface="Salesforce Sans"/>
              </a:rPr>
              <a:t>2</a:t>
            </a:r>
            <a:r>
              <a:rPr lang="en-IN" b="1" i="0" dirty="0">
                <a:solidFill>
                  <a:srgbClr val="333333"/>
                </a:solidFill>
                <a:effectLst/>
                <a:latin typeface="Salesforce Sans"/>
              </a:rPr>
              <a:t>0%.</a:t>
            </a:r>
            <a:endParaRPr lang="en-IN" b="1" dirty="0"/>
          </a:p>
        </p:txBody>
      </p:sp>
      <p:sp>
        <p:nvSpPr>
          <p:cNvPr id="4" name="TextBox 3">
            <a:extLst>
              <a:ext uri="{FF2B5EF4-FFF2-40B4-BE49-F238E27FC236}">
                <a16:creationId xmlns:a16="http://schemas.microsoft.com/office/drawing/2014/main" id="{93893A21-D229-46FA-968A-2F36BE0B1CF1}"/>
              </a:ext>
            </a:extLst>
          </p:cNvPr>
          <p:cNvSpPr txBox="1"/>
          <p:nvPr/>
        </p:nvSpPr>
        <p:spPr>
          <a:xfrm>
            <a:off x="908929" y="379510"/>
            <a:ext cx="10946917" cy="707886"/>
          </a:xfrm>
          <a:prstGeom prst="rect">
            <a:avLst/>
          </a:prstGeom>
          <a:solidFill>
            <a:srgbClr val="9FB6E1"/>
          </a:solidFill>
        </p:spPr>
        <p:txBody>
          <a:bodyPr wrap="square">
            <a:spAutoFit/>
          </a:bodyPr>
          <a:lstStyle/>
          <a:p>
            <a:pPr algn="ctr"/>
            <a:r>
              <a:rPr lang="en-IN" sz="4000" b="1" dirty="0">
                <a:effectLst/>
                <a:latin typeface="Consolas" panose="020B0609020204030204" pitchFamily="49" charset="0"/>
              </a:rPr>
              <a:t>Exponential Smoothing</a:t>
            </a:r>
          </a:p>
        </p:txBody>
      </p:sp>
    </p:spTree>
    <p:extLst>
      <p:ext uri="{BB962C8B-B14F-4D97-AF65-F5344CB8AC3E}">
        <p14:creationId xmlns:p14="http://schemas.microsoft.com/office/powerpoint/2010/main" val="30985523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524</TotalTime>
  <Words>688</Words>
  <Application>Microsoft Office PowerPoint</Application>
  <PresentationFormat>Widescreen</PresentationFormat>
  <Paragraphs>134</Paragraphs>
  <Slides>15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Arial</vt:lpstr>
      <vt:lpstr>Calibri</vt:lpstr>
      <vt:lpstr>Calibri Light</vt:lpstr>
      <vt:lpstr>Consolas</vt:lpstr>
      <vt:lpstr>Minion Pro</vt:lpstr>
      <vt:lpstr>Roboto</vt:lpstr>
      <vt:lpstr>Salesforce Sans</vt:lpstr>
      <vt:lpstr>sohne</vt:lpstr>
      <vt:lpstr>Söhne</vt:lpstr>
      <vt:lpstr>source-serif-pro</vt:lpstr>
      <vt:lpstr>Wingdings</vt:lpstr>
      <vt:lpstr>Office Theme</vt:lpstr>
      <vt:lpstr>What is time series data?</vt:lpstr>
      <vt:lpstr>Examples</vt:lpstr>
      <vt:lpstr>Time Series</vt:lpstr>
      <vt:lpstr>Components of Time Series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pushpasri M</dc:creator>
  <cp:lastModifiedBy>pushpasri M</cp:lastModifiedBy>
  <cp:revision>11</cp:revision>
  <dcterms:created xsi:type="dcterms:W3CDTF">2023-10-28T15:33:17Z</dcterms:created>
  <dcterms:modified xsi:type="dcterms:W3CDTF">2023-11-03T18:19:00Z</dcterms:modified>
</cp:coreProperties>
</file>